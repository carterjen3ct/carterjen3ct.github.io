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0"/>
  </p:notesMasterIdLst>
  <p:sldIdLst>
    <p:sldId id="256" r:id="rId2"/>
    <p:sldId id="281" r:id="rId3"/>
    <p:sldId id="274" r:id="rId4"/>
    <p:sldId id="276" r:id="rId5"/>
    <p:sldId id="277" r:id="rId6"/>
    <p:sldId id="258" r:id="rId7"/>
    <p:sldId id="272" r:id="rId8"/>
    <p:sldId id="261" r:id="rId9"/>
    <p:sldId id="275" r:id="rId10"/>
    <p:sldId id="264" r:id="rId11"/>
    <p:sldId id="273" r:id="rId12"/>
    <p:sldId id="260" r:id="rId13"/>
    <p:sldId id="269" r:id="rId14"/>
    <p:sldId id="265" r:id="rId15"/>
    <p:sldId id="271" r:id="rId16"/>
    <p:sldId id="279" r:id="rId17"/>
    <p:sldId id="280"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EC79-098A-4571-ABA5-3DE3FA134867}" v="689" dt="2026-05-07T06:12:26.247"/>
    <p1510:client id="{95E1E3A8-7631-BD49-ABEE-01B0F0A8D144}" v="190" dt="2026-05-07T16:32:44.396"/>
    <p1510:client id="{9939D75D-FBA0-4910-9E8B-EE92742D60A8}" v="3021" dt="2026-05-07T16:49:57.138"/>
    <p1510:client id="{E81ED8AA-02D3-4CFC-9453-336D8EEE5405}" v="2" dt="2026-05-07T02:38:58.760"/>
    <p1510:client id="{EAA050A9-D8E6-0046-98BF-BBBB56E57762}" v="1028" dt="2026-05-07T17:01:38.511"/>
    <p1510:client id="{EE56A2E4-27D7-AE48-979C-FA08291432A2}" v="1322" dt="2026-05-07T16:40:09.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45"/>
  </p:normalViewPr>
  <p:slideViewPr>
    <p:cSldViewPr snapToGrid="0">
      <p:cViewPr varScale="1">
        <p:scale>
          <a:sx n="90" d="100"/>
          <a:sy n="90" d="100"/>
        </p:scale>
        <p:origin x="38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0_2#1">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4DBEF8-84E2-4EFA-9C1F-06DFB76BDF94}" type="doc">
      <dgm:prSet loTypeId="urn:microsoft.com/office/officeart/2018/2/layout/IconLabelList" loCatId="icon" qsTypeId="urn:microsoft.com/office/officeart/2005/8/quickstyle/simple1#1" qsCatId="simple" csTypeId="urn:microsoft.com/office/officeart/2005/8/colors/accent0_2#1" csCatId="mainScheme" phldr="1"/>
      <dgm:spPr/>
      <dgm:t>
        <a:bodyPr/>
        <a:lstStyle/>
        <a:p>
          <a:endParaRPr lang="en-US"/>
        </a:p>
      </dgm:t>
    </dgm:pt>
    <dgm:pt modelId="{051E35A5-A906-44C0-BC47-DE6CDD4A7740}">
      <dgm:prSet custT="1"/>
      <dgm:spPr/>
      <dgm:t>
        <a:bodyPr/>
        <a:lstStyle/>
        <a:p>
          <a:pPr>
            <a:lnSpc>
              <a:spcPct val="100000"/>
            </a:lnSpc>
          </a:pPr>
          <a:r>
            <a:rPr lang="en-US" sz="1000">
              <a:solidFill>
                <a:schemeClr val="bg1"/>
              </a:solidFill>
            </a:rPr>
            <a:t>How do traffic volume and roadway density influence the distribution of vehicle emissions?</a:t>
          </a:r>
        </a:p>
      </dgm:t>
    </dgm:pt>
    <dgm:pt modelId="{69C2C611-E0C1-49C0-B2E6-00A6E283D692}" type="parTrans" cxnId="{F821EFA6-4AAD-491B-97DC-D8A304EBC7AA}">
      <dgm:prSet/>
      <dgm:spPr/>
      <dgm:t>
        <a:bodyPr/>
        <a:lstStyle/>
        <a:p>
          <a:endParaRPr lang="en-US" sz="1000">
            <a:solidFill>
              <a:schemeClr val="bg1"/>
            </a:solidFill>
          </a:endParaRPr>
        </a:p>
      </dgm:t>
    </dgm:pt>
    <dgm:pt modelId="{03C109BE-34E2-438B-985E-98C656CAE48D}" type="sibTrans" cxnId="{F821EFA6-4AAD-491B-97DC-D8A304EBC7AA}">
      <dgm:prSet/>
      <dgm:spPr/>
      <dgm:t>
        <a:bodyPr/>
        <a:lstStyle/>
        <a:p>
          <a:endParaRPr lang="en-US" sz="1000">
            <a:solidFill>
              <a:schemeClr val="bg1"/>
            </a:solidFill>
          </a:endParaRPr>
        </a:p>
      </dgm:t>
    </dgm:pt>
    <dgm:pt modelId="{69A31B37-EE25-4606-A966-E93A33AC27D3}">
      <dgm:prSet custT="1"/>
      <dgm:spPr/>
      <dgm:t>
        <a:bodyPr/>
        <a:lstStyle/>
        <a:p>
          <a:pPr>
            <a:lnSpc>
              <a:spcPct val="100000"/>
            </a:lnSpc>
          </a:pPr>
          <a:r>
            <a:rPr lang="en-US" sz="1000">
              <a:solidFill>
                <a:schemeClr val="bg1"/>
              </a:solidFill>
            </a:rPr>
            <a:t>Which DFW communities are most exposed to these emissions?</a:t>
          </a:r>
        </a:p>
      </dgm:t>
    </dgm:pt>
    <dgm:pt modelId="{2FBA406D-3F6B-4E3A-A860-D999119C0D11}" type="parTrans" cxnId="{8B956775-5B36-4386-B223-978008A40E1D}">
      <dgm:prSet/>
      <dgm:spPr/>
      <dgm:t>
        <a:bodyPr/>
        <a:lstStyle/>
        <a:p>
          <a:endParaRPr lang="en-US" sz="1000">
            <a:solidFill>
              <a:schemeClr val="bg1"/>
            </a:solidFill>
          </a:endParaRPr>
        </a:p>
      </dgm:t>
    </dgm:pt>
    <dgm:pt modelId="{9D77725C-F709-4FAA-AE54-7EDE22887FA7}" type="sibTrans" cxnId="{8B956775-5B36-4386-B223-978008A40E1D}">
      <dgm:prSet/>
      <dgm:spPr/>
      <dgm:t>
        <a:bodyPr/>
        <a:lstStyle/>
        <a:p>
          <a:endParaRPr lang="en-US" sz="1000">
            <a:solidFill>
              <a:schemeClr val="bg1"/>
            </a:solidFill>
          </a:endParaRPr>
        </a:p>
      </dgm:t>
    </dgm:pt>
    <dgm:pt modelId="{CECA0772-317C-4AE0-8B8D-9609412D18A1}">
      <dgm:prSet custT="1"/>
      <dgm:spPr/>
      <dgm:t>
        <a:bodyPr/>
        <a:lstStyle/>
        <a:p>
          <a:pPr>
            <a:lnSpc>
              <a:spcPct val="100000"/>
            </a:lnSpc>
          </a:pPr>
          <a:r>
            <a:rPr lang="en-US" sz="1000">
              <a:solidFill>
                <a:schemeClr val="bg1"/>
              </a:solidFill>
            </a:rPr>
            <a:t>How does exposure vary across socioeconomic  groups </a:t>
          </a:r>
          <a:r>
            <a:rPr lang="en-US" sz="1000" err="1">
              <a:solidFill>
                <a:schemeClr val="bg1"/>
              </a:solidFill>
            </a:rPr>
            <a:t>ie</a:t>
          </a:r>
          <a:r>
            <a:rPr lang="en-US" sz="1000">
              <a:solidFill>
                <a:schemeClr val="bg1"/>
              </a:solidFill>
            </a:rPr>
            <a:t>. income, race, and population density?</a:t>
          </a:r>
        </a:p>
      </dgm:t>
    </dgm:pt>
    <dgm:pt modelId="{23AA5142-EF82-42C5-B884-7AD065F37688}" type="parTrans" cxnId="{81E02280-BD7C-48E2-AE45-7A91E44DDBCA}">
      <dgm:prSet/>
      <dgm:spPr/>
      <dgm:t>
        <a:bodyPr/>
        <a:lstStyle/>
        <a:p>
          <a:endParaRPr lang="en-US" sz="1000">
            <a:solidFill>
              <a:schemeClr val="bg1"/>
            </a:solidFill>
          </a:endParaRPr>
        </a:p>
      </dgm:t>
    </dgm:pt>
    <dgm:pt modelId="{41FFC047-166A-4BE5-897E-0658A83C66A2}" type="sibTrans" cxnId="{81E02280-BD7C-48E2-AE45-7A91E44DDBCA}">
      <dgm:prSet/>
      <dgm:spPr/>
      <dgm:t>
        <a:bodyPr/>
        <a:lstStyle/>
        <a:p>
          <a:endParaRPr lang="en-US" sz="1000">
            <a:solidFill>
              <a:schemeClr val="bg1"/>
            </a:solidFill>
          </a:endParaRPr>
        </a:p>
      </dgm:t>
    </dgm:pt>
    <dgm:pt modelId="{1FC6D43B-B542-4B3F-A613-A6897D1A6F26}">
      <dgm:prSet custT="1"/>
      <dgm:spPr/>
      <dgm:t>
        <a:bodyPr/>
        <a:lstStyle/>
        <a:p>
          <a:pPr>
            <a:lnSpc>
              <a:spcPct val="100000"/>
            </a:lnSpc>
          </a:pPr>
          <a:r>
            <a:rPr lang="en-US" sz="1000">
              <a:solidFill>
                <a:schemeClr val="bg1"/>
              </a:solidFill>
            </a:rPr>
            <a:t>Why are certain populations subject to greater vehicle emission exposure in the Dallas-Fort Worth area</a:t>
          </a:r>
        </a:p>
      </dgm:t>
    </dgm:pt>
    <dgm:pt modelId="{E5C7490D-12A7-4B4C-9BF8-570E5A567EB6}" type="parTrans" cxnId="{A89852D6-5EFF-4A8B-BD27-AF2D3BE65C55}">
      <dgm:prSet/>
      <dgm:spPr/>
      <dgm:t>
        <a:bodyPr/>
        <a:lstStyle/>
        <a:p>
          <a:endParaRPr lang="en-US" sz="1000">
            <a:solidFill>
              <a:schemeClr val="bg1"/>
            </a:solidFill>
          </a:endParaRPr>
        </a:p>
      </dgm:t>
    </dgm:pt>
    <dgm:pt modelId="{F095740C-6410-4FB8-BD92-1FE5C7C3294D}" type="sibTrans" cxnId="{A89852D6-5EFF-4A8B-BD27-AF2D3BE65C55}">
      <dgm:prSet/>
      <dgm:spPr/>
      <dgm:t>
        <a:bodyPr/>
        <a:lstStyle/>
        <a:p>
          <a:endParaRPr lang="en-US" sz="1000">
            <a:solidFill>
              <a:schemeClr val="bg1"/>
            </a:solidFill>
          </a:endParaRPr>
        </a:p>
      </dgm:t>
    </dgm:pt>
    <dgm:pt modelId="{3B59569D-1721-456D-BCFE-18AB5C534D3F}" type="pres">
      <dgm:prSet presAssocID="{F74DBEF8-84E2-4EFA-9C1F-06DFB76BDF94}" presName="root" presStyleCnt="0">
        <dgm:presLayoutVars>
          <dgm:dir/>
          <dgm:resizeHandles val="exact"/>
        </dgm:presLayoutVars>
      </dgm:prSet>
      <dgm:spPr/>
    </dgm:pt>
    <dgm:pt modelId="{9721D140-5C61-4DE1-B29C-BB33FC16C85B}" type="pres">
      <dgm:prSet presAssocID="{051E35A5-A906-44C0-BC47-DE6CDD4A7740}" presName="compNode" presStyleCnt="0"/>
      <dgm:spPr/>
    </dgm:pt>
    <dgm:pt modelId="{024B6A56-3443-4DDF-A5C9-C95B99CC138C}" type="pres">
      <dgm:prSet presAssocID="{051E35A5-A906-44C0-BC47-DE6CDD4A7740}" presName="iconRect" presStyleLbl="node1" presStyleIdx="0" presStyleCnt="4" custLinFactNeighborX="-1064" custLinFactNeighborY="-2708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raffic Light"/>
        </a:ext>
      </dgm:extLst>
    </dgm:pt>
    <dgm:pt modelId="{808AEA48-3197-40E4-A4AF-479957BAF902}" type="pres">
      <dgm:prSet presAssocID="{051E35A5-A906-44C0-BC47-DE6CDD4A7740}" presName="spaceRect" presStyleCnt="0"/>
      <dgm:spPr/>
    </dgm:pt>
    <dgm:pt modelId="{508A29A9-D7E3-442E-9922-E5BF06F1101F}" type="pres">
      <dgm:prSet presAssocID="{051E35A5-A906-44C0-BC47-DE6CDD4A7740}" presName="textRect" presStyleLbl="revTx" presStyleIdx="0" presStyleCnt="4" custLinFactNeighborX="-479" custLinFactNeighborY="-66726">
        <dgm:presLayoutVars>
          <dgm:chMax val="1"/>
          <dgm:chPref val="1"/>
        </dgm:presLayoutVars>
      </dgm:prSet>
      <dgm:spPr/>
    </dgm:pt>
    <dgm:pt modelId="{11F78A36-3561-4C9F-8BD4-455ABAC9DD36}" type="pres">
      <dgm:prSet presAssocID="{03C109BE-34E2-438B-985E-98C656CAE48D}" presName="sibTrans" presStyleCnt="0"/>
      <dgm:spPr/>
    </dgm:pt>
    <dgm:pt modelId="{C05CBF3C-B32E-4819-955B-A5F4EEB7D965}" type="pres">
      <dgm:prSet presAssocID="{69A31B37-EE25-4606-A966-E93A33AC27D3}" presName="compNode" presStyleCnt="0"/>
      <dgm:spPr/>
    </dgm:pt>
    <dgm:pt modelId="{BE767208-EFD1-436D-9066-E0BAA07F1316}" type="pres">
      <dgm:prSet presAssocID="{69A31B37-EE25-4606-A966-E93A33AC27D3}" presName="iconRect" presStyleLbl="node1" presStyleIdx="1" presStyleCnt="4" custLinFactNeighborX="799" custLinFactNeighborY="-2780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arth Globe Americas"/>
        </a:ext>
      </dgm:extLst>
    </dgm:pt>
    <dgm:pt modelId="{C06C1EDE-63BD-4A51-8DF1-C169A75892E9}" type="pres">
      <dgm:prSet presAssocID="{69A31B37-EE25-4606-A966-E93A33AC27D3}" presName="spaceRect" presStyleCnt="0"/>
      <dgm:spPr/>
    </dgm:pt>
    <dgm:pt modelId="{081185FE-27D1-4BAD-9DB2-33EB3F9A3459}" type="pres">
      <dgm:prSet presAssocID="{69A31B37-EE25-4606-A966-E93A33AC27D3}" presName="textRect" presStyleLbl="revTx" presStyleIdx="1" presStyleCnt="4" custLinFactNeighborX="-724" custLinFactNeighborY="-66726">
        <dgm:presLayoutVars>
          <dgm:chMax val="1"/>
          <dgm:chPref val="1"/>
        </dgm:presLayoutVars>
      </dgm:prSet>
      <dgm:spPr/>
    </dgm:pt>
    <dgm:pt modelId="{CC2519C1-CEF1-469B-BD75-9E695B5EF978}" type="pres">
      <dgm:prSet presAssocID="{9D77725C-F709-4FAA-AE54-7EDE22887FA7}" presName="sibTrans" presStyleCnt="0"/>
      <dgm:spPr/>
    </dgm:pt>
    <dgm:pt modelId="{C36E26FE-906E-4600-B62D-95BEA9CB2F62}" type="pres">
      <dgm:prSet presAssocID="{CECA0772-317C-4AE0-8B8D-9609412D18A1}" presName="compNode" presStyleCnt="0"/>
      <dgm:spPr/>
    </dgm:pt>
    <dgm:pt modelId="{CC5CD119-22D0-43CB-94BC-61E3A5C3FF98}" type="pres">
      <dgm:prSet presAssocID="{CECA0772-317C-4AE0-8B8D-9609412D18A1}" presName="iconRect" presStyleLbl="node1" presStyleIdx="2" presStyleCnt="4" custLinFactNeighborX="-1064" custLinFactNeighborY="-7161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Dollar with solid fill"/>
        </a:ext>
      </dgm:extLst>
    </dgm:pt>
    <dgm:pt modelId="{9A16B0EB-2C38-4B54-8687-14B8A3070ED0}" type="pres">
      <dgm:prSet presAssocID="{CECA0772-317C-4AE0-8B8D-9609412D18A1}" presName="spaceRect" presStyleCnt="0"/>
      <dgm:spPr/>
    </dgm:pt>
    <dgm:pt modelId="{940B9F45-6CBC-40E4-BCB2-2D0F91852A60}" type="pres">
      <dgm:prSet presAssocID="{CECA0772-317C-4AE0-8B8D-9609412D18A1}" presName="textRect" presStyleLbl="revTx" presStyleIdx="2" presStyleCnt="4" custLinFactY="-7296" custLinFactNeighborX="6719" custLinFactNeighborY="-100000">
        <dgm:presLayoutVars>
          <dgm:chMax val="1"/>
          <dgm:chPref val="1"/>
        </dgm:presLayoutVars>
      </dgm:prSet>
      <dgm:spPr/>
    </dgm:pt>
    <dgm:pt modelId="{BC483E5D-1529-4399-BCCE-AFB4DCF9A699}" type="pres">
      <dgm:prSet presAssocID="{41FFC047-166A-4BE5-897E-0658A83C66A2}" presName="sibTrans" presStyleCnt="0"/>
      <dgm:spPr/>
    </dgm:pt>
    <dgm:pt modelId="{EDBD6851-AD0A-4CF9-B656-D4EE2ACEC935}" type="pres">
      <dgm:prSet presAssocID="{1FC6D43B-B542-4B3F-A613-A6897D1A6F26}" presName="compNode" presStyleCnt="0"/>
      <dgm:spPr/>
    </dgm:pt>
    <dgm:pt modelId="{E5DE09E3-5ADF-4FDD-B423-BD5A0F819858}" type="pres">
      <dgm:prSet presAssocID="{1FC6D43B-B542-4B3F-A613-A6897D1A6F26}" presName="iconRect" presStyleLbl="node1" presStyleIdx="3" presStyleCnt="4" custLinFactNeighborX="799" custLinFactNeighborY="-7262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y"/>
        </a:ext>
      </dgm:extLst>
    </dgm:pt>
    <dgm:pt modelId="{E7548C4E-41B4-4C94-8B23-D06446FED0A7}" type="pres">
      <dgm:prSet presAssocID="{1FC6D43B-B542-4B3F-A613-A6897D1A6F26}" presName="spaceRect" presStyleCnt="0"/>
      <dgm:spPr/>
    </dgm:pt>
    <dgm:pt modelId="{6E680D0A-C9E4-4839-866C-1B06A3C35C97}" type="pres">
      <dgm:prSet presAssocID="{1FC6D43B-B542-4B3F-A613-A6897D1A6F26}" presName="textRect" presStyleLbl="revTx" presStyleIdx="3" presStyleCnt="4" custLinFactY="-7296" custLinFactNeighborX="3980" custLinFactNeighborY="-100000">
        <dgm:presLayoutVars>
          <dgm:chMax val="1"/>
          <dgm:chPref val="1"/>
        </dgm:presLayoutVars>
      </dgm:prSet>
      <dgm:spPr/>
    </dgm:pt>
  </dgm:ptLst>
  <dgm:cxnLst>
    <dgm:cxn modelId="{80CC0668-3093-45D5-AD1E-6F3A9C633418}" type="presOf" srcId="{F74DBEF8-84E2-4EFA-9C1F-06DFB76BDF94}" destId="{3B59569D-1721-456D-BCFE-18AB5C534D3F}" srcOrd="0" destOrd="0" presId="urn:microsoft.com/office/officeart/2018/2/layout/IconLabelList"/>
    <dgm:cxn modelId="{8B956775-5B36-4386-B223-978008A40E1D}" srcId="{F74DBEF8-84E2-4EFA-9C1F-06DFB76BDF94}" destId="{69A31B37-EE25-4606-A966-E93A33AC27D3}" srcOrd="1" destOrd="0" parTransId="{2FBA406D-3F6B-4E3A-A860-D999119C0D11}" sibTransId="{9D77725C-F709-4FAA-AE54-7EDE22887FA7}"/>
    <dgm:cxn modelId="{81E02280-BD7C-48E2-AE45-7A91E44DDBCA}" srcId="{F74DBEF8-84E2-4EFA-9C1F-06DFB76BDF94}" destId="{CECA0772-317C-4AE0-8B8D-9609412D18A1}" srcOrd="2" destOrd="0" parTransId="{23AA5142-EF82-42C5-B884-7AD065F37688}" sibTransId="{41FFC047-166A-4BE5-897E-0658A83C66A2}"/>
    <dgm:cxn modelId="{B4640BA3-9DF2-49B8-8264-58E997D7E988}" type="presOf" srcId="{69A31B37-EE25-4606-A966-E93A33AC27D3}" destId="{081185FE-27D1-4BAD-9DB2-33EB3F9A3459}" srcOrd="0" destOrd="0" presId="urn:microsoft.com/office/officeart/2018/2/layout/IconLabelList"/>
    <dgm:cxn modelId="{F821EFA6-4AAD-491B-97DC-D8A304EBC7AA}" srcId="{F74DBEF8-84E2-4EFA-9C1F-06DFB76BDF94}" destId="{051E35A5-A906-44C0-BC47-DE6CDD4A7740}" srcOrd="0" destOrd="0" parTransId="{69C2C611-E0C1-49C0-B2E6-00A6E283D692}" sibTransId="{03C109BE-34E2-438B-985E-98C656CAE48D}"/>
    <dgm:cxn modelId="{0D960CB0-66A1-49D9-941B-A0E5D63D6F14}" type="presOf" srcId="{CECA0772-317C-4AE0-8B8D-9609412D18A1}" destId="{940B9F45-6CBC-40E4-BCB2-2D0F91852A60}" srcOrd="0" destOrd="0" presId="urn:microsoft.com/office/officeart/2018/2/layout/IconLabelList"/>
    <dgm:cxn modelId="{A89852D6-5EFF-4A8B-BD27-AF2D3BE65C55}" srcId="{F74DBEF8-84E2-4EFA-9C1F-06DFB76BDF94}" destId="{1FC6D43B-B542-4B3F-A613-A6897D1A6F26}" srcOrd="3" destOrd="0" parTransId="{E5C7490D-12A7-4B4C-9BF8-570E5A567EB6}" sibTransId="{F095740C-6410-4FB8-BD92-1FE5C7C3294D}"/>
    <dgm:cxn modelId="{A7E863DE-5F07-4633-A06E-10EC8CBDDB0A}" type="presOf" srcId="{1FC6D43B-B542-4B3F-A613-A6897D1A6F26}" destId="{6E680D0A-C9E4-4839-866C-1B06A3C35C97}" srcOrd="0" destOrd="0" presId="urn:microsoft.com/office/officeart/2018/2/layout/IconLabelList"/>
    <dgm:cxn modelId="{750A8AF4-1577-4048-89EF-2788C0B6E486}" type="presOf" srcId="{051E35A5-A906-44C0-BC47-DE6CDD4A7740}" destId="{508A29A9-D7E3-442E-9922-E5BF06F1101F}" srcOrd="0" destOrd="0" presId="urn:microsoft.com/office/officeart/2018/2/layout/IconLabelList"/>
    <dgm:cxn modelId="{3873231D-B274-4582-9FB7-40B0EAAEC8ED}" type="presParOf" srcId="{3B59569D-1721-456D-BCFE-18AB5C534D3F}" destId="{9721D140-5C61-4DE1-B29C-BB33FC16C85B}" srcOrd="0" destOrd="0" presId="urn:microsoft.com/office/officeart/2018/2/layout/IconLabelList"/>
    <dgm:cxn modelId="{A6C640A4-95AC-4D65-B24C-CFC15B981376}" type="presParOf" srcId="{9721D140-5C61-4DE1-B29C-BB33FC16C85B}" destId="{024B6A56-3443-4DDF-A5C9-C95B99CC138C}" srcOrd="0" destOrd="0" presId="urn:microsoft.com/office/officeart/2018/2/layout/IconLabelList"/>
    <dgm:cxn modelId="{5B6F7686-1BE6-4C47-8038-1D5563F620B0}" type="presParOf" srcId="{9721D140-5C61-4DE1-B29C-BB33FC16C85B}" destId="{808AEA48-3197-40E4-A4AF-479957BAF902}" srcOrd="1" destOrd="0" presId="urn:microsoft.com/office/officeart/2018/2/layout/IconLabelList"/>
    <dgm:cxn modelId="{BE68E052-1D28-41CE-8A47-A2B6DF960FA2}" type="presParOf" srcId="{9721D140-5C61-4DE1-B29C-BB33FC16C85B}" destId="{508A29A9-D7E3-442E-9922-E5BF06F1101F}" srcOrd="2" destOrd="0" presId="urn:microsoft.com/office/officeart/2018/2/layout/IconLabelList"/>
    <dgm:cxn modelId="{05479C9B-3A03-4E8A-8FF2-A68654BD2509}" type="presParOf" srcId="{3B59569D-1721-456D-BCFE-18AB5C534D3F}" destId="{11F78A36-3561-4C9F-8BD4-455ABAC9DD36}" srcOrd="1" destOrd="0" presId="urn:microsoft.com/office/officeart/2018/2/layout/IconLabelList"/>
    <dgm:cxn modelId="{48EDDEB4-EF37-484D-A6CA-62348CD3FA73}" type="presParOf" srcId="{3B59569D-1721-456D-BCFE-18AB5C534D3F}" destId="{C05CBF3C-B32E-4819-955B-A5F4EEB7D965}" srcOrd="2" destOrd="0" presId="urn:microsoft.com/office/officeart/2018/2/layout/IconLabelList"/>
    <dgm:cxn modelId="{260AF937-AE28-437F-AC7D-2832A9497190}" type="presParOf" srcId="{C05CBF3C-B32E-4819-955B-A5F4EEB7D965}" destId="{BE767208-EFD1-436D-9066-E0BAA07F1316}" srcOrd="0" destOrd="0" presId="urn:microsoft.com/office/officeart/2018/2/layout/IconLabelList"/>
    <dgm:cxn modelId="{4668CE02-2F17-44B0-9935-F6C8E047C778}" type="presParOf" srcId="{C05CBF3C-B32E-4819-955B-A5F4EEB7D965}" destId="{C06C1EDE-63BD-4A51-8DF1-C169A75892E9}" srcOrd="1" destOrd="0" presId="urn:microsoft.com/office/officeart/2018/2/layout/IconLabelList"/>
    <dgm:cxn modelId="{55A08942-9D6F-4861-9889-3C17184AC02B}" type="presParOf" srcId="{C05CBF3C-B32E-4819-955B-A5F4EEB7D965}" destId="{081185FE-27D1-4BAD-9DB2-33EB3F9A3459}" srcOrd="2" destOrd="0" presId="urn:microsoft.com/office/officeart/2018/2/layout/IconLabelList"/>
    <dgm:cxn modelId="{2F136C87-09CC-487A-AAD6-11D3CAE16354}" type="presParOf" srcId="{3B59569D-1721-456D-BCFE-18AB5C534D3F}" destId="{CC2519C1-CEF1-469B-BD75-9E695B5EF978}" srcOrd="3" destOrd="0" presId="urn:microsoft.com/office/officeart/2018/2/layout/IconLabelList"/>
    <dgm:cxn modelId="{AC9E3B31-798D-480B-9A9D-A976097E976D}" type="presParOf" srcId="{3B59569D-1721-456D-BCFE-18AB5C534D3F}" destId="{C36E26FE-906E-4600-B62D-95BEA9CB2F62}" srcOrd="4" destOrd="0" presId="urn:microsoft.com/office/officeart/2018/2/layout/IconLabelList"/>
    <dgm:cxn modelId="{64EC06DC-4475-4E4D-844E-3341BA19C225}" type="presParOf" srcId="{C36E26FE-906E-4600-B62D-95BEA9CB2F62}" destId="{CC5CD119-22D0-43CB-94BC-61E3A5C3FF98}" srcOrd="0" destOrd="0" presId="urn:microsoft.com/office/officeart/2018/2/layout/IconLabelList"/>
    <dgm:cxn modelId="{4688A30A-7446-4885-9681-CB0E78126B2C}" type="presParOf" srcId="{C36E26FE-906E-4600-B62D-95BEA9CB2F62}" destId="{9A16B0EB-2C38-4B54-8687-14B8A3070ED0}" srcOrd="1" destOrd="0" presId="urn:microsoft.com/office/officeart/2018/2/layout/IconLabelList"/>
    <dgm:cxn modelId="{8837BAA5-CFBA-42E1-850D-8629A94D4E54}" type="presParOf" srcId="{C36E26FE-906E-4600-B62D-95BEA9CB2F62}" destId="{940B9F45-6CBC-40E4-BCB2-2D0F91852A60}" srcOrd="2" destOrd="0" presId="urn:microsoft.com/office/officeart/2018/2/layout/IconLabelList"/>
    <dgm:cxn modelId="{271C24BF-F51D-4E21-9AB1-2653BCAEACCE}" type="presParOf" srcId="{3B59569D-1721-456D-BCFE-18AB5C534D3F}" destId="{BC483E5D-1529-4399-BCCE-AFB4DCF9A699}" srcOrd="5" destOrd="0" presId="urn:microsoft.com/office/officeart/2018/2/layout/IconLabelList"/>
    <dgm:cxn modelId="{2A3FB8BF-DB1E-4BCE-B428-EE28BB578A67}" type="presParOf" srcId="{3B59569D-1721-456D-BCFE-18AB5C534D3F}" destId="{EDBD6851-AD0A-4CF9-B656-D4EE2ACEC935}" srcOrd="6" destOrd="0" presId="urn:microsoft.com/office/officeart/2018/2/layout/IconLabelList"/>
    <dgm:cxn modelId="{8076F62F-75A3-404A-9640-30BE29AA469B}" type="presParOf" srcId="{EDBD6851-AD0A-4CF9-B656-D4EE2ACEC935}" destId="{E5DE09E3-5ADF-4FDD-B423-BD5A0F819858}" srcOrd="0" destOrd="0" presId="urn:microsoft.com/office/officeart/2018/2/layout/IconLabelList"/>
    <dgm:cxn modelId="{A2679375-08B8-49CD-A5A1-53E3A212930F}" type="presParOf" srcId="{EDBD6851-AD0A-4CF9-B656-D4EE2ACEC935}" destId="{E7548C4E-41B4-4C94-8B23-D06446FED0A7}" srcOrd="1" destOrd="0" presId="urn:microsoft.com/office/officeart/2018/2/layout/IconLabelList"/>
    <dgm:cxn modelId="{821D1162-5A89-4EF4-884B-ECFF20559993}" type="presParOf" srcId="{EDBD6851-AD0A-4CF9-B656-D4EE2ACEC935}" destId="{6E680D0A-C9E4-4839-866C-1B06A3C35C97}"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B6A56-3443-4DDF-A5C9-C95B99CC138C}">
      <dsp:nvSpPr>
        <dsp:cNvPr id="0" name=""/>
        <dsp:cNvSpPr/>
      </dsp:nvSpPr>
      <dsp:spPr>
        <a:xfrm>
          <a:off x="558024" y="30372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8A29A9-D7E3-442E-9922-E5BF06F1101F}">
      <dsp:nvSpPr>
        <dsp:cNvPr id="0" name=""/>
        <dsp:cNvSpPr/>
      </dsp:nvSpPr>
      <dsp:spPr>
        <a:xfrm>
          <a:off x="63020" y="11633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44500">
            <a:lnSpc>
              <a:spcPct val="100000"/>
            </a:lnSpc>
            <a:spcBef>
              <a:spcPct val="0"/>
            </a:spcBef>
            <a:spcAft>
              <a:spcPct val="35000"/>
            </a:spcAft>
            <a:buNone/>
          </a:pPr>
          <a:r>
            <a:rPr lang="en-US" sz="1000" kern="1200">
              <a:solidFill>
                <a:schemeClr val="bg1"/>
              </a:solidFill>
            </a:rPr>
            <a:t>How do traffic volume and roadway density influence the distribution of vehicle emissions?</a:t>
          </a:r>
        </a:p>
      </dsp:txBody>
      <dsp:txXfrm>
        <a:off x="63020" y="1163311"/>
        <a:ext cx="1800000" cy="720000"/>
      </dsp:txXfrm>
    </dsp:sp>
    <dsp:sp modelId="{BE767208-EFD1-436D-9066-E0BAA07F1316}">
      <dsp:nvSpPr>
        <dsp:cNvPr id="0" name=""/>
        <dsp:cNvSpPr/>
      </dsp:nvSpPr>
      <dsp:spPr>
        <a:xfrm>
          <a:off x="2688114" y="297853"/>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1185FE-27D1-4BAD-9DB2-33EB3F9A3459}">
      <dsp:nvSpPr>
        <dsp:cNvPr id="0" name=""/>
        <dsp:cNvSpPr/>
      </dsp:nvSpPr>
      <dsp:spPr>
        <a:xfrm>
          <a:off x="2173610" y="1163311"/>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44500">
            <a:lnSpc>
              <a:spcPct val="100000"/>
            </a:lnSpc>
            <a:spcBef>
              <a:spcPct val="0"/>
            </a:spcBef>
            <a:spcAft>
              <a:spcPct val="35000"/>
            </a:spcAft>
            <a:buNone/>
          </a:pPr>
          <a:r>
            <a:rPr lang="en-US" sz="1000" kern="1200">
              <a:solidFill>
                <a:schemeClr val="bg1"/>
              </a:solidFill>
            </a:rPr>
            <a:t>Which DFW communities are most exposed to these emissions?</a:t>
          </a:r>
        </a:p>
      </dsp:txBody>
      <dsp:txXfrm>
        <a:off x="2173610" y="1163311"/>
        <a:ext cx="1800000" cy="720000"/>
      </dsp:txXfrm>
    </dsp:sp>
    <dsp:sp modelId="{CC5CD119-22D0-43CB-94BC-61E3A5C3FF98}">
      <dsp:nvSpPr>
        <dsp:cNvPr id="0" name=""/>
        <dsp:cNvSpPr/>
      </dsp:nvSpPr>
      <dsp:spPr>
        <a:xfrm>
          <a:off x="558024" y="2233681"/>
          <a:ext cx="810000" cy="81000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0B9F45-6CBC-40E4-BCB2-2D0F91852A60}">
      <dsp:nvSpPr>
        <dsp:cNvPr id="0" name=""/>
        <dsp:cNvSpPr/>
      </dsp:nvSpPr>
      <dsp:spPr>
        <a:xfrm>
          <a:off x="192584" y="316185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44500">
            <a:lnSpc>
              <a:spcPct val="100000"/>
            </a:lnSpc>
            <a:spcBef>
              <a:spcPct val="0"/>
            </a:spcBef>
            <a:spcAft>
              <a:spcPct val="35000"/>
            </a:spcAft>
            <a:buNone/>
          </a:pPr>
          <a:r>
            <a:rPr lang="en-US" sz="1000" kern="1200">
              <a:solidFill>
                <a:schemeClr val="bg1"/>
              </a:solidFill>
            </a:rPr>
            <a:t>How does exposure vary across socioeconomic  groups </a:t>
          </a:r>
          <a:r>
            <a:rPr lang="en-US" sz="1000" kern="1200" err="1">
              <a:solidFill>
                <a:schemeClr val="bg1"/>
              </a:solidFill>
            </a:rPr>
            <a:t>ie</a:t>
          </a:r>
          <a:r>
            <a:rPr lang="en-US" sz="1000" kern="1200">
              <a:solidFill>
                <a:schemeClr val="bg1"/>
              </a:solidFill>
            </a:rPr>
            <a:t>. income, race, and population density?</a:t>
          </a:r>
        </a:p>
      </dsp:txBody>
      <dsp:txXfrm>
        <a:off x="192584" y="3161855"/>
        <a:ext cx="1800000" cy="720000"/>
      </dsp:txXfrm>
    </dsp:sp>
    <dsp:sp modelId="{E5DE09E3-5ADF-4FDD-B423-BD5A0F819858}">
      <dsp:nvSpPr>
        <dsp:cNvPr id="0" name=""/>
        <dsp:cNvSpPr/>
      </dsp:nvSpPr>
      <dsp:spPr>
        <a:xfrm>
          <a:off x="2688114" y="2225484"/>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680D0A-C9E4-4839-866C-1B06A3C35C97}">
      <dsp:nvSpPr>
        <dsp:cNvPr id="0" name=""/>
        <dsp:cNvSpPr/>
      </dsp:nvSpPr>
      <dsp:spPr>
        <a:xfrm>
          <a:off x="2258282" y="316185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44500">
            <a:lnSpc>
              <a:spcPct val="100000"/>
            </a:lnSpc>
            <a:spcBef>
              <a:spcPct val="0"/>
            </a:spcBef>
            <a:spcAft>
              <a:spcPct val="35000"/>
            </a:spcAft>
            <a:buNone/>
          </a:pPr>
          <a:r>
            <a:rPr lang="en-US" sz="1000" kern="1200">
              <a:solidFill>
                <a:schemeClr val="bg1"/>
              </a:solidFill>
            </a:rPr>
            <a:t>Why are certain populations subject to greater vehicle emission exposure in the Dallas-Fort Worth area</a:t>
          </a:r>
        </a:p>
      </dsp:txBody>
      <dsp:txXfrm>
        <a:off x="2258282" y="3161855"/>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59FF3-B4F4-F943-90F1-C6DCC9ACEB65}"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4AC89-96C2-D74D-94F9-BE55517F60E2}" type="slidenum">
              <a:rPr lang="en-US" smtClean="0"/>
              <a:t>‹#›</a:t>
            </a:fld>
            <a:endParaRPr lang="en-US"/>
          </a:p>
        </p:txBody>
      </p:sp>
    </p:spTree>
    <p:extLst>
      <p:ext uri="{BB962C8B-B14F-4D97-AF65-F5344CB8AC3E}">
        <p14:creationId xmlns:p14="http://schemas.microsoft.com/office/powerpoint/2010/main" val="176210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Isaiah </a:t>
            </a:r>
          </a:p>
        </p:txBody>
      </p:sp>
      <p:sp>
        <p:nvSpPr>
          <p:cNvPr id="4" name="Slide Number Placeholder 3"/>
          <p:cNvSpPr>
            <a:spLocks noGrp="1"/>
          </p:cNvSpPr>
          <p:nvPr>
            <p:ph type="sldNum" sz="quarter" idx="5"/>
          </p:nvPr>
        </p:nvSpPr>
        <p:spPr/>
        <p:txBody>
          <a:bodyPr/>
          <a:lstStyle/>
          <a:p>
            <a:fld id="{F584AC89-96C2-D74D-94F9-BE55517F60E2}" type="slidenum">
              <a:rPr lang="en-US" smtClean="0"/>
              <a:t>1</a:t>
            </a:fld>
            <a:endParaRPr lang="en-US"/>
          </a:p>
        </p:txBody>
      </p:sp>
    </p:spTree>
    <p:extLst>
      <p:ext uri="{BB962C8B-B14F-4D97-AF65-F5344CB8AC3E}">
        <p14:creationId xmlns:p14="http://schemas.microsoft.com/office/powerpoint/2010/main" val="696903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Rei</a:t>
            </a:r>
          </a:p>
          <a:p>
            <a:endParaRPr lang="en-US"/>
          </a:p>
        </p:txBody>
      </p:sp>
      <p:sp>
        <p:nvSpPr>
          <p:cNvPr id="4" name="Slide Number Placeholder 3"/>
          <p:cNvSpPr>
            <a:spLocks noGrp="1"/>
          </p:cNvSpPr>
          <p:nvPr>
            <p:ph type="sldNum" sz="quarter" idx="5"/>
          </p:nvPr>
        </p:nvSpPr>
        <p:spPr/>
        <p:txBody>
          <a:bodyPr/>
          <a:lstStyle/>
          <a:p>
            <a:fld id="{F584AC89-96C2-D74D-94F9-BE55517F60E2}" type="slidenum">
              <a:rPr lang="en-US" smtClean="0"/>
              <a:t>2</a:t>
            </a:fld>
            <a:endParaRPr lang="en-US"/>
          </a:p>
        </p:txBody>
      </p:sp>
    </p:spTree>
    <p:extLst>
      <p:ext uri="{BB962C8B-B14F-4D97-AF65-F5344CB8AC3E}">
        <p14:creationId xmlns:p14="http://schemas.microsoft.com/office/powerpoint/2010/main" val="227057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fortworthreport.org</a:t>
            </a:r>
            <a:r>
              <a:rPr lang="en-US"/>
              <a:t>/2023/10/30/does-dallas-fort-worth-rank-third-in-the-world-for-greenhouse-gas-emissions-from-cars/</a:t>
            </a:r>
          </a:p>
          <a:p>
            <a:endParaRPr lang="en-US"/>
          </a:p>
          <a:p>
            <a:endParaRPr lang="en-US"/>
          </a:p>
          <a:p>
            <a:r>
              <a:rPr lang="en-US"/>
              <a:t>Micheal</a:t>
            </a:r>
          </a:p>
        </p:txBody>
      </p:sp>
      <p:sp>
        <p:nvSpPr>
          <p:cNvPr id="4" name="Slide Number Placeholder 3"/>
          <p:cNvSpPr>
            <a:spLocks noGrp="1"/>
          </p:cNvSpPr>
          <p:nvPr>
            <p:ph type="sldNum" sz="quarter" idx="5"/>
          </p:nvPr>
        </p:nvSpPr>
        <p:spPr/>
        <p:txBody>
          <a:bodyPr/>
          <a:lstStyle/>
          <a:p>
            <a:fld id="{F584AC89-96C2-D74D-94F9-BE55517F60E2}" type="slidenum">
              <a:rPr lang="en-US" smtClean="0"/>
              <a:t>3</a:t>
            </a:fld>
            <a:endParaRPr lang="en-US"/>
          </a:p>
        </p:txBody>
      </p:sp>
    </p:spTree>
    <p:extLst>
      <p:ext uri="{BB962C8B-B14F-4D97-AF65-F5344CB8AC3E}">
        <p14:creationId xmlns:p14="http://schemas.microsoft.com/office/powerpoint/2010/main" val="1931735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Carter</a:t>
            </a:r>
          </a:p>
        </p:txBody>
      </p:sp>
      <p:sp>
        <p:nvSpPr>
          <p:cNvPr id="4" name="Slide Number Placeholder 3"/>
          <p:cNvSpPr>
            <a:spLocks noGrp="1"/>
          </p:cNvSpPr>
          <p:nvPr>
            <p:ph type="sldNum" sz="quarter" idx="5"/>
          </p:nvPr>
        </p:nvSpPr>
        <p:spPr/>
        <p:txBody>
          <a:bodyPr/>
          <a:lstStyle/>
          <a:p>
            <a:fld id="{F584AC89-96C2-D74D-94F9-BE55517F60E2}" type="slidenum">
              <a:rPr lang="en-US" smtClean="0"/>
              <a:t>4</a:t>
            </a:fld>
            <a:endParaRPr lang="en-US"/>
          </a:p>
        </p:txBody>
      </p:sp>
    </p:spTree>
    <p:extLst>
      <p:ext uri="{BB962C8B-B14F-4D97-AF65-F5344CB8AC3E}">
        <p14:creationId xmlns:p14="http://schemas.microsoft.com/office/powerpoint/2010/main" val="101888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Carter</a:t>
            </a:r>
          </a:p>
        </p:txBody>
      </p:sp>
      <p:sp>
        <p:nvSpPr>
          <p:cNvPr id="4" name="Slide Number Placeholder 3"/>
          <p:cNvSpPr>
            <a:spLocks noGrp="1"/>
          </p:cNvSpPr>
          <p:nvPr>
            <p:ph type="sldNum" sz="quarter" idx="5"/>
          </p:nvPr>
        </p:nvSpPr>
        <p:spPr/>
        <p:txBody>
          <a:bodyPr/>
          <a:lstStyle/>
          <a:p>
            <a:fld id="{F584AC89-96C2-D74D-94F9-BE55517F60E2}" type="slidenum">
              <a:rPr lang="en-US" smtClean="0"/>
              <a:t>5</a:t>
            </a:fld>
            <a:endParaRPr lang="en-US"/>
          </a:p>
        </p:txBody>
      </p:sp>
    </p:spTree>
    <p:extLst>
      <p:ext uri="{BB962C8B-B14F-4D97-AF65-F5344CB8AC3E}">
        <p14:creationId xmlns:p14="http://schemas.microsoft.com/office/powerpoint/2010/main" val="518091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Micheal</a:t>
            </a:r>
          </a:p>
        </p:txBody>
      </p:sp>
      <p:sp>
        <p:nvSpPr>
          <p:cNvPr id="4" name="Slide Number Placeholder 3"/>
          <p:cNvSpPr>
            <a:spLocks noGrp="1"/>
          </p:cNvSpPr>
          <p:nvPr>
            <p:ph type="sldNum" sz="quarter" idx="5"/>
          </p:nvPr>
        </p:nvSpPr>
        <p:spPr/>
        <p:txBody>
          <a:bodyPr/>
          <a:lstStyle/>
          <a:p>
            <a:fld id="{F584AC89-96C2-D74D-94F9-BE55517F60E2}" type="slidenum">
              <a:rPr lang="en-US" smtClean="0"/>
              <a:t>6</a:t>
            </a:fld>
            <a:endParaRPr lang="en-US"/>
          </a:p>
        </p:txBody>
      </p:sp>
    </p:spTree>
    <p:extLst>
      <p:ext uri="{BB962C8B-B14F-4D97-AF65-F5344CB8AC3E}">
        <p14:creationId xmlns:p14="http://schemas.microsoft.com/office/powerpoint/2010/main" val="2228104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Micheal</a:t>
            </a:r>
          </a:p>
        </p:txBody>
      </p:sp>
      <p:sp>
        <p:nvSpPr>
          <p:cNvPr id="4" name="Slide Number Placeholder 3"/>
          <p:cNvSpPr>
            <a:spLocks noGrp="1"/>
          </p:cNvSpPr>
          <p:nvPr>
            <p:ph type="sldNum" sz="quarter" idx="5"/>
          </p:nvPr>
        </p:nvSpPr>
        <p:spPr/>
        <p:txBody>
          <a:bodyPr/>
          <a:lstStyle/>
          <a:p>
            <a:fld id="{F584AC89-96C2-D74D-94F9-BE55517F60E2}" type="slidenum">
              <a:rPr lang="en-US" smtClean="0"/>
              <a:t>7</a:t>
            </a:fld>
            <a:endParaRPr lang="en-US"/>
          </a:p>
        </p:txBody>
      </p:sp>
    </p:spTree>
    <p:extLst>
      <p:ext uri="{BB962C8B-B14F-4D97-AF65-F5344CB8AC3E}">
        <p14:creationId xmlns:p14="http://schemas.microsoft.com/office/powerpoint/2010/main" val="4059189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Isaiah </a:t>
            </a:r>
          </a:p>
        </p:txBody>
      </p:sp>
      <p:sp>
        <p:nvSpPr>
          <p:cNvPr id="4" name="Slide Number Placeholder 3"/>
          <p:cNvSpPr>
            <a:spLocks noGrp="1"/>
          </p:cNvSpPr>
          <p:nvPr>
            <p:ph type="sldNum" sz="quarter" idx="5"/>
          </p:nvPr>
        </p:nvSpPr>
        <p:spPr/>
        <p:txBody>
          <a:bodyPr/>
          <a:lstStyle/>
          <a:p>
            <a:fld id="{F584AC89-96C2-D74D-94F9-BE55517F60E2}" type="slidenum">
              <a:rPr lang="en-US" smtClean="0"/>
              <a:t>8</a:t>
            </a:fld>
            <a:endParaRPr lang="en-US"/>
          </a:p>
        </p:txBody>
      </p:sp>
    </p:spTree>
    <p:extLst>
      <p:ext uri="{BB962C8B-B14F-4D97-AF65-F5344CB8AC3E}">
        <p14:creationId xmlns:p14="http://schemas.microsoft.com/office/powerpoint/2010/main" val="4007552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Trent</a:t>
            </a:r>
          </a:p>
        </p:txBody>
      </p:sp>
      <p:sp>
        <p:nvSpPr>
          <p:cNvPr id="4" name="Slide Number Placeholder 3"/>
          <p:cNvSpPr>
            <a:spLocks noGrp="1"/>
          </p:cNvSpPr>
          <p:nvPr>
            <p:ph type="sldNum" sz="quarter" idx="5"/>
          </p:nvPr>
        </p:nvSpPr>
        <p:spPr/>
        <p:txBody>
          <a:bodyPr/>
          <a:lstStyle/>
          <a:p>
            <a:fld id="{F584AC89-96C2-D74D-94F9-BE55517F60E2}" type="slidenum">
              <a:rPr lang="en-US" smtClean="0"/>
              <a:t>9</a:t>
            </a:fld>
            <a:endParaRPr lang="en-US"/>
          </a:p>
        </p:txBody>
      </p:sp>
    </p:spTree>
    <p:extLst>
      <p:ext uri="{BB962C8B-B14F-4D97-AF65-F5344CB8AC3E}">
        <p14:creationId xmlns:p14="http://schemas.microsoft.com/office/powerpoint/2010/main" val="4049962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Trent</a:t>
            </a:r>
          </a:p>
        </p:txBody>
      </p:sp>
      <p:sp>
        <p:nvSpPr>
          <p:cNvPr id="4" name="Slide Number Placeholder 3"/>
          <p:cNvSpPr>
            <a:spLocks noGrp="1"/>
          </p:cNvSpPr>
          <p:nvPr>
            <p:ph type="sldNum" sz="quarter" idx="5"/>
          </p:nvPr>
        </p:nvSpPr>
        <p:spPr/>
        <p:txBody>
          <a:bodyPr/>
          <a:lstStyle/>
          <a:p>
            <a:fld id="{F584AC89-96C2-D74D-94F9-BE55517F60E2}" type="slidenum">
              <a:rPr lang="en-US" smtClean="0"/>
              <a:t>10</a:t>
            </a:fld>
            <a:endParaRPr lang="en-US"/>
          </a:p>
        </p:txBody>
      </p:sp>
    </p:spTree>
    <p:extLst>
      <p:ext uri="{BB962C8B-B14F-4D97-AF65-F5344CB8AC3E}">
        <p14:creationId xmlns:p14="http://schemas.microsoft.com/office/powerpoint/2010/main" val="2008543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Trent</a:t>
            </a:r>
          </a:p>
        </p:txBody>
      </p:sp>
      <p:sp>
        <p:nvSpPr>
          <p:cNvPr id="4" name="Slide Number Placeholder 3"/>
          <p:cNvSpPr>
            <a:spLocks noGrp="1"/>
          </p:cNvSpPr>
          <p:nvPr>
            <p:ph type="sldNum" sz="quarter" idx="5"/>
          </p:nvPr>
        </p:nvSpPr>
        <p:spPr/>
        <p:txBody>
          <a:bodyPr/>
          <a:lstStyle/>
          <a:p>
            <a:fld id="{F584AC89-96C2-D74D-94F9-BE55517F60E2}" type="slidenum">
              <a:rPr lang="en-US" smtClean="0"/>
              <a:t>11</a:t>
            </a:fld>
            <a:endParaRPr lang="en-US"/>
          </a:p>
        </p:txBody>
      </p:sp>
    </p:spTree>
    <p:extLst>
      <p:ext uri="{BB962C8B-B14F-4D97-AF65-F5344CB8AC3E}">
        <p14:creationId xmlns:p14="http://schemas.microsoft.com/office/powerpoint/2010/main" val="1675542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Rei</a:t>
            </a:r>
          </a:p>
        </p:txBody>
      </p:sp>
      <p:sp>
        <p:nvSpPr>
          <p:cNvPr id="4" name="Slide Number Placeholder 3"/>
          <p:cNvSpPr>
            <a:spLocks noGrp="1"/>
          </p:cNvSpPr>
          <p:nvPr>
            <p:ph type="sldNum" sz="quarter" idx="5"/>
          </p:nvPr>
        </p:nvSpPr>
        <p:spPr/>
        <p:txBody>
          <a:bodyPr/>
          <a:lstStyle/>
          <a:p>
            <a:fld id="{F584AC89-96C2-D74D-94F9-BE55517F60E2}" type="slidenum">
              <a:rPr lang="en-US" smtClean="0"/>
              <a:t>12</a:t>
            </a:fld>
            <a:endParaRPr lang="en-US"/>
          </a:p>
        </p:txBody>
      </p:sp>
    </p:spTree>
    <p:extLst>
      <p:ext uri="{BB962C8B-B14F-4D97-AF65-F5344CB8AC3E}">
        <p14:creationId xmlns:p14="http://schemas.microsoft.com/office/powerpoint/2010/main" val="1384141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Isaiah</a:t>
            </a:r>
          </a:p>
        </p:txBody>
      </p:sp>
      <p:sp>
        <p:nvSpPr>
          <p:cNvPr id="4" name="Slide Number Placeholder 3"/>
          <p:cNvSpPr>
            <a:spLocks noGrp="1"/>
          </p:cNvSpPr>
          <p:nvPr>
            <p:ph type="sldNum" sz="quarter" idx="5"/>
          </p:nvPr>
        </p:nvSpPr>
        <p:spPr/>
        <p:txBody>
          <a:bodyPr/>
          <a:lstStyle/>
          <a:p>
            <a:fld id="{F584AC89-96C2-D74D-94F9-BE55517F60E2}" type="slidenum">
              <a:rPr lang="en-US" smtClean="0"/>
              <a:t>13</a:t>
            </a:fld>
            <a:endParaRPr lang="en-US"/>
          </a:p>
        </p:txBody>
      </p:sp>
    </p:spTree>
    <p:extLst>
      <p:ext uri="{BB962C8B-B14F-4D97-AF65-F5344CB8AC3E}">
        <p14:creationId xmlns:p14="http://schemas.microsoft.com/office/powerpoint/2010/main" val="2349165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Isaiah</a:t>
            </a:r>
          </a:p>
        </p:txBody>
      </p:sp>
      <p:sp>
        <p:nvSpPr>
          <p:cNvPr id="4" name="Slide Number Placeholder 3"/>
          <p:cNvSpPr>
            <a:spLocks noGrp="1"/>
          </p:cNvSpPr>
          <p:nvPr>
            <p:ph type="sldNum" sz="quarter" idx="5"/>
          </p:nvPr>
        </p:nvSpPr>
        <p:spPr/>
        <p:txBody>
          <a:bodyPr/>
          <a:lstStyle/>
          <a:p>
            <a:fld id="{F584AC89-96C2-D74D-94F9-BE55517F60E2}" type="slidenum">
              <a:rPr lang="en-US" smtClean="0"/>
              <a:t>14</a:t>
            </a:fld>
            <a:endParaRPr lang="en-US"/>
          </a:p>
        </p:txBody>
      </p:sp>
    </p:spTree>
    <p:extLst>
      <p:ext uri="{BB962C8B-B14F-4D97-AF65-F5344CB8AC3E}">
        <p14:creationId xmlns:p14="http://schemas.microsoft.com/office/powerpoint/2010/main" val="1885668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Isaiah</a:t>
            </a:r>
          </a:p>
        </p:txBody>
      </p:sp>
      <p:sp>
        <p:nvSpPr>
          <p:cNvPr id="4" name="Slide Number Placeholder 3"/>
          <p:cNvSpPr>
            <a:spLocks noGrp="1"/>
          </p:cNvSpPr>
          <p:nvPr>
            <p:ph type="sldNum" sz="quarter" idx="5"/>
          </p:nvPr>
        </p:nvSpPr>
        <p:spPr/>
        <p:txBody>
          <a:bodyPr/>
          <a:lstStyle/>
          <a:p>
            <a:fld id="{F584AC89-96C2-D74D-94F9-BE55517F60E2}" type="slidenum">
              <a:rPr lang="en-US" smtClean="0"/>
              <a:t>15</a:t>
            </a:fld>
            <a:endParaRPr lang="en-US"/>
          </a:p>
        </p:txBody>
      </p:sp>
    </p:spTree>
    <p:extLst>
      <p:ext uri="{BB962C8B-B14F-4D97-AF65-F5344CB8AC3E}">
        <p14:creationId xmlns:p14="http://schemas.microsoft.com/office/powerpoint/2010/main" val="1312210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Carter</a:t>
            </a:r>
          </a:p>
        </p:txBody>
      </p:sp>
      <p:sp>
        <p:nvSpPr>
          <p:cNvPr id="4" name="Slide Number Placeholder 3"/>
          <p:cNvSpPr>
            <a:spLocks noGrp="1"/>
          </p:cNvSpPr>
          <p:nvPr>
            <p:ph type="sldNum" sz="quarter" idx="5"/>
          </p:nvPr>
        </p:nvSpPr>
        <p:spPr/>
        <p:txBody>
          <a:bodyPr/>
          <a:lstStyle/>
          <a:p>
            <a:fld id="{F584AC89-96C2-D74D-94F9-BE55517F60E2}" type="slidenum">
              <a:rPr lang="en-US" smtClean="0"/>
              <a:t>16</a:t>
            </a:fld>
            <a:endParaRPr lang="en-US"/>
          </a:p>
        </p:txBody>
      </p:sp>
    </p:spTree>
    <p:extLst>
      <p:ext uri="{BB962C8B-B14F-4D97-AF65-F5344CB8AC3E}">
        <p14:creationId xmlns:p14="http://schemas.microsoft.com/office/powerpoint/2010/main" val="551041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Carter</a:t>
            </a:r>
          </a:p>
        </p:txBody>
      </p:sp>
      <p:sp>
        <p:nvSpPr>
          <p:cNvPr id="4" name="Slide Number Placeholder 3"/>
          <p:cNvSpPr>
            <a:spLocks noGrp="1"/>
          </p:cNvSpPr>
          <p:nvPr>
            <p:ph type="sldNum" sz="quarter" idx="5"/>
          </p:nvPr>
        </p:nvSpPr>
        <p:spPr/>
        <p:txBody>
          <a:bodyPr/>
          <a:lstStyle/>
          <a:p>
            <a:fld id="{F584AC89-96C2-D74D-94F9-BE55517F60E2}" type="slidenum">
              <a:rPr lang="en-US" smtClean="0"/>
              <a:t>17</a:t>
            </a:fld>
            <a:endParaRPr lang="en-US"/>
          </a:p>
        </p:txBody>
      </p:sp>
    </p:spTree>
    <p:extLst>
      <p:ext uri="{BB962C8B-B14F-4D97-AF65-F5344CB8AC3E}">
        <p14:creationId xmlns:p14="http://schemas.microsoft.com/office/powerpoint/2010/main" val="212309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BB76395-F757-C341-B3C1-53172D1952D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904407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B76395-F757-C341-B3C1-53172D1952D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714017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B76395-F757-C341-B3C1-53172D1952D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11756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BB76395-F757-C341-B3C1-53172D1952D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870062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BB76395-F757-C341-B3C1-53172D1952D9}"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339991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B76395-F757-C341-B3C1-53172D1952D9}"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2357458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B76395-F757-C341-B3C1-53172D1952D9}"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793322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B76395-F757-C341-B3C1-53172D1952D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655061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B76395-F757-C341-B3C1-53172D1952D9}"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342247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B76395-F757-C341-B3C1-53172D1952D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5490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B76395-F757-C341-B3C1-53172D1952D9}"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9A5A55-D176-E04D-934A-7C7563EAC4CB}" type="slidenum">
              <a:rPr lang="en-US" smtClean="0"/>
              <a:t>‹#›</a:t>
            </a:fld>
            <a:endParaRPr lang="en-US"/>
          </a:p>
        </p:txBody>
      </p:sp>
    </p:spTree>
    <p:extLst>
      <p:ext uri="{BB962C8B-B14F-4D97-AF65-F5344CB8AC3E}">
        <p14:creationId xmlns:p14="http://schemas.microsoft.com/office/powerpoint/2010/main" val="320417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B76395-F757-C341-B3C1-53172D1952D9}" type="datetimeFigureOut">
              <a:rPr lang="en-US" smtClean="0"/>
              <a:t>9/14/2026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9A5A55-D176-E04D-934A-7C7563EAC4CB}" type="slidenum">
              <a:rPr lang="en-US" smtClean="0"/>
              <a:t>‹#›</a:t>
            </a:fld>
            <a:endParaRPr lang="en-US"/>
          </a:p>
        </p:txBody>
      </p:sp>
    </p:spTree>
    <p:extLst>
      <p:ext uri="{BB962C8B-B14F-4D97-AF65-F5344CB8AC3E}">
        <p14:creationId xmlns:p14="http://schemas.microsoft.com/office/powerpoint/2010/main" val="17261524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pxhere.com/en/photo/920"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xdot.gov/data-maps/traffic-count-maps.html" TargetMode="External"/><Relationship Id="rId2" Type="http://schemas.openxmlformats.org/officeDocument/2006/relationships/hyperlink" Target="https://walker-data.com/tidycensus/" TargetMode="External"/><Relationship Id="rId1" Type="http://schemas.openxmlformats.org/officeDocument/2006/relationships/slideLayout" Target="../slideLayouts/slideLayout2.xml"/><Relationship Id="rId6" Type="http://schemas.openxmlformats.org/officeDocument/2006/relationships/hyperlink" Target="https://fortworthreport.org/2023/10/30/does-dallas-fort-worth-rank-third-in-the-world-for-greenhouse-gas-emissions-from-cars/" TargetMode="External"/><Relationship Id="rId5" Type="http://schemas.openxmlformats.org/officeDocument/2006/relationships/hyperlink" Target="https://www.txdot.gov/business/information-requests/traffic-counts.html" TargetMode="External"/><Relationship Id="rId4" Type="http://schemas.openxmlformats.org/officeDocument/2006/relationships/hyperlink" Target="https://www.openstreetmap.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he 8 best things to do in Dallas Fort Worth, Texas | Cathay HK">
            <a:extLst>
              <a:ext uri="{FF2B5EF4-FFF2-40B4-BE49-F238E27FC236}">
                <a16:creationId xmlns:a16="http://schemas.microsoft.com/office/drawing/2014/main" id="{66C4F7A5-A73C-E2A7-D25F-E545878B3684}"/>
              </a:ext>
            </a:extLst>
          </p:cNvPr>
          <p:cNvPicPr>
            <a:picLocks noChangeAspect="1"/>
          </p:cNvPicPr>
          <p:nvPr/>
        </p:nvPicPr>
        <p:blipFill>
          <a:blip r:embed="rId3">
            <a:alphaModFix amt="50000"/>
          </a:blip>
          <a:srcRect l="4943" r="6190"/>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90F72B34-7498-9DC6-3BBE-BF6DCBA5D214}"/>
              </a:ext>
            </a:extLst>
          </p:cNvPr>
          <p:cNvSpPr>
            <a:spLocks noGrp="1"/>
          </p:cNvSpPr>
          <p:nvPr>
            <p:ph type="ctrTitle"/>
          </p:nvPr>
        </p:nvSpPr>
        <p:spPr>
          <a:xfrm>
            <a:off x="1524000" y="1122363"/>
            <a:ext cx="9144000" cy="3063240"/>
          </a:xfrm>
        </p:spPr>
        <p:txBody>
          <a:bodyPr>
            <a:normAutofit/>
          </a:bodyPr>
          <a:lstStyle/>
          <a:p>
            <a:r>
              <a:rPr lang="en-US" sz="5100">
                <a:ln w="22225">
                  <a:solidFill>
                    <a:prstClr val="white"/>
                  </a:solidFill>
                  <a:miter lim="800000"/>
                </a:ln>
                <a:solidFill>
                  <a:schemeClr val="bg1"/>
                </a:solidFill>
              </a:rPr>
              <a:t>Mapping Vehicle Emission Exposure and Infrastructure Inequity Across Dallas-Fort Worth</a:t>
            </a:r>
            <a:endParaRPr lang="en-US" sz="5100">
              <a:solidFill>
                <a:schemeClr val="bg1"/>
              </a:solidFill>
            </a:endParaRPr>
          </a:p>
        </p:txBody>
      </p:sp>
      <p:sp>
        <p:nvSpPr>
          <p:cNvPr id="3" name="Subtitle 2">
            <a:extLst>
              <a:ext uri="{FF2B5EF4-FFF2-40B4-BE49-F238E27FC236}">
                <a16:creationId xmlns:a16="http://schemas.microsoft.com/office/drawing/2014/main" id="{8FC90613-ED22-D6E1-D01D-2E7C12EA9C53}"/>
              </a:ext>
            </a:extLst>
          </p:cNvPr>
          <p:cNvSpPr>
            <a:spLocks noGrp="1"/>
          </p:cNvSpPr>
          <p:nvPr>
            <p:ph type="subTitle" idx="1"/>
          </p:nvPr>
        </p:nvSpPr>
        <p:spPr>
          <a:xfrm>
            <a:off x="1527048" y="4599432"/>
            <a:ext cx="9144000" cy="1536192"/>
          </a:xfrm>
        </p:spPr>
        <p:txBody>
          <a:bodyPr vert="horz" lIns="91440" tIns="45720" rIns="91440" bIns="45720" rtlCol="0">
            <a:normAutofit/>
          </a:bodyPr>
          <a:lstStyle/>
          <a:p>
            <a:r>
              <a:rPr lang="en-US">
                <a:solidFill>
                  <a:schemeClr val="bg1"/>
                </a:solidFill>
              </a:rPr>
              <a:t>GEOG 469 – Applications of Geographic Information Systems</a:t>
            </a:r>
          </a:p>
          <a:p>
            <a:r>
              <a:rPr lang="en-US">
                <a:solidFill>
                  <a:schemeClr val="bg1"/>
                </a:solidFill>
              </a:rPr>
              <a:t>Rei Almaraz, Micheal Robinson, Carter Jensen, Isaiah Jones, Trent Kiser</a:t>
            </a:r>
          </a:p>
          <a:p>
            <a:endParaRPr lang="en-US">
              <a:solidFill>
                <a:schemeClr val="bg1"/>
              </a:solidFill>
            </a:endParaRPr>
          </a:p>
          <a:p>
            <a:endParaRPr lang="en-US">
              <a:solidFill>
                <a:schemeClr val="bg1"/>
              </a:solidFill>
            </a:endParaRP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4753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35F62-C8C6-01A9-8543-90B7551F67E8}"/>
              </a:ext>
            </a:extLst>
          </p:cNvPr>
          <p:cNvPicPr>
            <a:picLocks noChangeAspect="1"/>
          </p:cNvPicPr>
          <p:nvPr/>
        </p:nvPicPr>
        <p:blipFill>
          <a:blip r:embed="rId3"/>
          <a:stretch>
            <a:fillRect/>
          </a:stretch>
        </p:blipFill>
        <p:spPr>
          <a:xfrm>
            <a:off x="66041" y="76956"/>
            <a:ext cx="8808720" cy="6704087"/>
          </a:xfrm>
          <a:prstGeom prst="rect">
            <a:avLst/>
          </a:prstGeom>
        </p:spPr>
      </p:pic>
      <p:sp>
        <p:nvSpPr>
          <p:cNvPr id="8" name="TextBox 7">
            <a:extLst>
              <a:ext uri="{FF2B5EF4-FFF2-40B4-BE49-F238E27FC236}">
                <a16:creationId xmlns:a16="http://schemas.microsoft.com/office/drawing/2014/main" id="{F1744020-FD47-BEB1-B3DA-07B8447AAC69}"/>
              </a:ext>
            </a:extLst>
          </p:cNvPr>
          <p:cNvSpPr txBox="1"/>
          <p:nvPr/>
        </p:nvSpPr>
        <p:spPr>
          <a:xfrm>
            <a:off x="7721600" y="1117565"/>
            <a:ext cx="4064000" cy="4622869"/>
          </a:xfrm>
          <a:prstGeom prst="rect">
            <a:avLst/>
          </a:prstGeom>
          <a:noFill/>
        </p:spPr>
        <p:txBody>
          <a:bodyPr wrap="square" rtlCol="0">
            <a:spAutoFit/>
          </a:bodyPr>
          <a:lstStyle/>
          <a:p>
            <a:pPr marL="285750" indent="-285750">
              <a:lnSpc>
                <a:spcPct val="150000"/>
              </a:lnSpc>
              <a:buFontTx/>
              <a:buChar char="-"/>
            </a:pPr>
            <a:r>
              <a:rPr lang="en-US"/>
              <a:t>Routes are mainly concentrated around central Dallas</a:t>
            </a:r>
          </a:p>
          <a:p>
            <a:pPr marL="285750" indent="-285750">
              <a:lnSpc>
                <a:spcPct val="150000"/>
              </a:lnSpc>
              <a:buFontTx/>
              <a:buChar char="-"/>
            </a:pPr>
            <a:r>
              <a:rPr lang="en-US"/>
              <a:t>Coverage becomes less connected the farther you go away from the city</a:t>
            </a:r>
          </a:p>
          <a:p>
            <a:pPr marL="285750" indent="-285750">
              <a:lnSpc>
                <a:spcPct val="150000"/>
              </a:lnSpc>
              <a:buFontTx/>
              <a:buChar char="-"/>
            </a:pPr>
            <a:r>
              <a:rPr lang="en-US"/>
              <a:t>Local and Feeder routes focus on neighborhood access</a:t>
            </a:r>
          </a:p>
          <a:p>
            <a:pPr marL="285750" indent="-285750">
              <a:lnSpc>
                <a:spcPct val="150000"/>
              </a:lnSpc>
              <a:buFontTx/>
              <a:buChar char="-"/>
            </a:pPr>
            <a:r>
              <a:rPr lang="en-US"/>
              <a:t>Express routes prioritize faster travel</a:t>
            </a:r>
          </a:p>
          <a:p>
            <a:pPr marL="285750" indent="-285750">
              <a:lnSpc>
                <a:spcPct val="150000"/>
              </a:lnSpc>
              <a:buFontTx/>
              <a:buChar char="-"/>
            </a:pPr>
            <a:r>
              <a:rPr lang="en-US"/>
              <a:t>Map shows that some areas have better transit access than others, making some communities more dependent on cars </a:t>
            </a:r>
          </a:p>
        </p:txBody>
      </p:sp>
      <p:sp>
        <p:nvSpPr>
          <p:cNvPr id="9" name="TextBox 8">
            <a:extLst>
              <a:ext uri="{FF2B5EF4-FFF2-40B4-BE49-F238E27FC236}">
                <a16:creationId xmlns:a16="http://schemas.microsoft.com/office/drawing/2014/main" id="{D7A1D8F5-DE15-2856-7508-625C742CEB3A}"/>
              </a:ext>
            </a:extLst>
          </p:cNvPr>
          <p:cNvSpPr txBox="1"/>
          <p:nvPr/>
        </p:nvSpPr>
        <p:spPr>
          <a:xfrm>
            <a:off x="609600" y="162560"/>
            <a:ext cx="10058400" cy="646331"/>
          </a:xfrm>
          <a:prstGeom prst="rect">
            <a:avLst/>
          </a:prstGeom>
          <a:noFill/>
        </p:spPr>
        <p:txBody>
          <a:bodyPr wrap="square" rtlCol="0">
            <a:spAutoFit/>
          </a:bodyPr>
          <a:lstStyle/>
          <a:p>
            <a:r>
              <a:rPr lang="en-US" sz="3600" b="1">
                <a:latin typeface="+mj-lt"/>
              </a:rPr>
              <a:t>A Look at Existing DFW Transportation </a:t>
            </a:r>
          </a:p>
        </p:txBody>
      </p:sp>
    </p:spTree>
    <p:extLst>
      <p:ext uri="{BB962C8B-B14F-4D97-AF65-F5344CB8AC3E}">
        <p14:creationId xmlns:p14="http://schemas.microsoft.com/office/powerpoint/2010/main" val="45684633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umes from a powerplant chimney">
            <a:extLst>
              <a:ext uri="{FF2B5EF4-FFF2-40B4-BE49-F238E27FC236}">
                <a16:creationId xmlns:a16="http://schemas.microsoft.com/office/drawing/2014/main" id="{FDF42E12-3425-C04F-0112-F03E5EFFC9FE}"/>
              </a:ext>
            </a:extLst>
          </p:cNvPr>
          <p:cNvPicPr>
            <a:picLocks noChangeAspect="1"/>
          </p:cNvPicPr>
          <p:nvPr/>
        </p:nvPicPr>
        <p:blipFill>
          <a:blip r:embed="rId3"/>
          <a:srcRect t="9091" r="22427"/>
          <a:stretch>
            <a:fillRect/>
          </a:stretch>
        </p:blipFill>
        <p:spPr>
          <a:xfrm>
            <a:off x="3522468" y="10"/>
            <a:ext cx="8669532" cy="6857990"/>
          </a:xfrm>
          <a:prstGeom prst="rect">
            <a:avLst/>
          </a:prstGeom>
        </p:spPr>
      </p:pic>
      <p:sp>
        <p:nvSpPr>
          <p:cNvPr id="27" name="Rectangle 26">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216118-24BC-E44F-A7AE-92F809544A7D}"/>
              </a:ext>
            </a:extLst>
          </p:cNvPr>
          <p:cNvSpPr>
            <a:spLocks noGrp="1"/>
          </p:cNvSpPr>
          <p:nvPr>
            <p:ph type="title"/>
          </p:nvPr>
        </p:nvSpPr>
        <p:spPr>
          <a:xfrm>
            <a:off x="371094" y="1161288"/>
            <a:ext cx="3438144" cy="1124712"/>
          </a:xfrm>
        </p:spPr>
        <p:txBody>
          <a:bodyPr anchor="b">
            <a:normAutofit/>
          </a:bodyPr>
          <a:lstStyle/>
          <a:p>
            <a:r>
              <a:rPr lang="en-US" sz="2800">
                <a:solidFill>
                  <a:schemeClr val="bg1"/>
                </a:solidFill>
              </a:rPr>
              <a:t>Regional Issues with Emissions</a:t>
            </a:r>
          </a:p>
        </p:txBody>
      </p:sp>
      <p:sp>
        <p:nvSpPr>
          <p:cNvPr id="29" name="Rectangle 2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E2F2B5E-CA7B-CC40-E6D6-129CA66E7AC6}"/>
              </a:ext>
            </a:extLst>
          </p:cNvPr>
          <p:cNvSpPr>
            <a:spLocks noGrp="1"/>
          </p:cNvSpPr>
          <p:nvPr>
            <p:ph idx="1"/>
          </p:nvPr>
        </p:nvSpPr>
        <p:spPr>
          <a:xfrm>
            <a:off x="371094" y="2718054"/>
            <a:ext cx="3438906" cy="3207258"/>
          </a:xfrm>
        </p:spPr>
        <p:txBody>
          <a:bodyPr anchor="t">
            <a:normAutofit/>
          </a:bodyPr>
          <a:lstStyle/>
          <a:p>
            <a:r>
              <a:rPr lang="en-US" sz="1700">
                <a:solidFill>
                  <a:schemeClr val="bg1"/>
                </a:solidFill>
              </a:rPr>
              <a:t>In 2021, the Dallas-Fort Worth area produced 23.8 million tons of carbon dioxide from cars, trucks and automobiles alone</a:t>
            </a:r>
          </a:p>
          <a:p>
            <a:r>
              <a:rPr lang="en-US" sz="1700">
                <a:solidFill>
                  <a:schemeClr val="bg1"/>
                </a:solidFill>
              </a:rPr>
              <a:t>Currently 3</a:t>
            </a:r>
            <a:r>
              <a:rPr lang="en-US" sz="1700" baseline="30000">
                <a:solidFill>
                  <a:schemeClr val="bg1"/>
                </a:solidFill>
              </a:rPr>
              <a:t>rd</a:t>
            </a:r>
            <a:r>
              <a:rPr lang="en-US" sz="1700">
                <a:solidFill>
                  <a:schemeClr val="bg1"/>
                </a:solidFill>
              </a:rPr>
              <a:t> most carbon emitting metropolitan area, behind New York City and Los Angeles</a:t>
            </a:r>
          </a:p>
          <a:p>
            <a:r>
              <a:rPr lang="en-US" sz="1700">
                <a:solidFill>
                  <a:schemeClr val="bg1"/>
                </a:solidFill>
              </a:rPr>
              <a:t>The region is moving to decrease emissions, lead by the DFW airport on the path to net zero carbon emissions by 2030.</a:t>
            </a:r>
          </a:p>
        </p:txBody>
      </p:sp>
    </p:spTree>
    <p:extLst>
      <p:ext uri="{BB962C8B-B14F-4D97-AF65-F5344CB8AC3E}">
        <p14:creationId xmlns:p14="http://schemas.microsoft.com/office/powerpoint/2010/main" val="7587926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int By Numbers | Dallas - Time Lapse Photography Of Cars On Road During  Night Time">
            <a:extLst>
              <a:ext uri="{FF2B5EF4-FFF2-40B4-BE49-F238E27FC236}">
                <a16:creationId xmlns:a16="http://schemas.microsoft.com/office/drawing/2014/main" id="{456E3882-575C-A0E9-6710-B1CF88EEBD82}"/>
              </a:ext>
            </a:extLst>
          </p:cNvPr>
          <p:cNvPicPr>
            <a:picLocks noChangeAspect="1"/>
          </p:cNvPicPr>
          <p:nvPr/>
        </p:nvPicPr>
        <p:blipFill>
          <a:blip r:embed="rId3"/>
          <a:srcRect l="20838" t="15628"/>
          <a:stretch>
            <a:fillRect/>
          </a:stretch>
        </p:blipFill>
        <p:spPr>
          <a:xfrm>
            <a:off x="3988340" y="0"/>
            <a:ext cx="8203660" cy="6849700"/>
          </a:xfrm>
          <a:prstGeom prst="rect">
            <a:avLst/>
          </a:prstGeom>
          <a:noFill/>
          <a:effectLst/>
        </p:spPr>
      </p:pic>
      <p:sp>
        <p:nvSpPr>
          <p:cNvPr id="36" name="Rectangle 35">
            <a:extLst>
              <a:ext uri="{FF2B5EF4-FFF2-40B4-BE49-F238E27FC236}">
                <a16:creationId xmlns:a16="http://schemas.microsoft.com/office/drawing/2014/main" id="{2F88D5BA-0E2E-0D7A-2886-68F593C463BB}"/>
              </a:ext>
            </a:extLst>
          </p:cNvPr>
          <p:cNvSpPr/>
          <p:nvPr/>
        </p:nvSpPr>
        <p:spPr>
          <a:xfrm>
            <a:off x="3014456" y="8300"/>
            <a:ext cx="4573118" cy="6849701"/>
          </a:xfrm>
          <a:prstGeom prst="rect">
            <a:avLst/>
          </a:prstGeom>
          <a:gradFill>
            <a:gsLst>
              <a:gs pos="41240">
                <a:srgbClr val="000000">
                  <a:alpha val="92000"/>
                </a:srgbClr>
              </a:gs>
              <a:gs pos="62000">
                <a:srgbClr val="000000">
                  <a:alpha val="82000"/>
                </a:srgbClr>
              </a:gs>
              <a:gs pos="80000">
                <a:schemeClr val="tx1">
                  <a:alpha val="66000"/>
                </a:schemeClr>
              </a:gs>
              <a:gs pos="2000">
                <a:schemeClr val="tx1"/>
              </a:gs>
              <a:gs pos="100000">
                <a:schemeClr val="tx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1">
            <a:extLst>
              <a:ext uri="{FF2B5EF4-FFF2-40B4-BE49-F238E27FC236}">
                <a16:creationId xmlns:a16="http://schemas.microsoft.com/office/drawing/2014/main" id="{7530F067-046A-612A-61D6-A5CCF38578FE}"/>
              </a:ext>
            </a:extLst>
          </p:cNvPr>
          <p:cNvSpPr>
            <a:spLocks noGrp="1"/>
          </p:cNvSpPr>
          <p:nvPr>
            <p:ph type="title"/>
          </p:nvPr>
        </p:nvSpPr>
        <p:spPr>
          <a:xfrm>
            <a:off x="166151" y="0"/>
            <a:ext cx="3822189" cy="1899912"/>
          </a:xfrm>
        </p:spPr>
        <p:txBody>
          <a:bodyPr vert="horz" lIns="91440" tIns="45720" rIns="91440" bIns="45720" rtlCol="0" anchor="ctr">
            <a:normAutofit/>
          </a:bodyPr>
          <a:lstStyle/>
          <a:p>
            <a:pPr algn="ctr"/>
            <a:r>
              <a:rPr lang="en-US" sz="4000">
                <a:solidFill>
                  <a:schemeClr val="bg1"/>
                </a:solidFill>
              </a:rPr>
              <a:t>Research Questions </a:t>
            </a:r>
          </a:p>
        </p:txBody>
      </p:sp>
      <p:cxnSp>
        <p:nvCxnSpPr>
          <p:cNvPr id="38" name="Straight Connector 37">
            <a:extLst>
              <a:ext uri="{FF2B5EF4-FFF2-40B4-BE49-F238E27FC236}">
                <a16:creationId xmlns:a16="http://schemas.microsoft.com/office/drawing/2014/main" id="{FF9491F3-9EA0-2F15-BC59-DD00EE8C58D4}"/>
              </a:ext>
            </a:extLst>
          </p:cNvPr>
          <p:cNvCxnSpPr>
            <a:cxnSpLocks/>
          </p:cNvCxnSpPr>
          <p:nvPr/>
        </p:nvCxnSpPr>
        <p:spPr>
          <a:xfrm>
            <a:off x="226387" y="1663922"/>
            <a:ext cx="3701716" cy="0"/>
          </a:xfrm>
          <a:prstGeom prst="line">
            <a:avLst/>
          </a:prstGeom>
          <a:ln/>
        </p:spPr>
        <p:style>
          <a:lnRef idx="2">
            <a:schemeClr val="accent2"/>
          </a:lnRef>
          <a:fillRef idx="0">
            <a:schemeClr val="accent2"/>
          </a:fillRef>
          <a:effectRef idx="1">
            <a:schemeClr val="accent2"/>
          </a:effectRef>
          <a:fontRef idx="minor">
            <a:schemeClr val="tx1"/>
          </a:fontRef>
        </p:style>
      </p:cxnSp>
      <p:graphicFrame>
        <p:nvGraphicFramePr>
          <p:cNvPr id="39" name="Text Placeholder 3">
            <a:extLst>
              <a:ext uri="{FF2B5EF4-FFF2-40B4-BE49-F238E27FC236}">
                <a16:creationId xmlns:a16="http://schemas.microsoft.com/office/drawing/2014/main" id="{FA49E4CF-AB67-0DB9-988F-D1B6772D5923}"/>
              </a:ext>
            </a:extLst>
          </p:cNvPr>
          <p:cNvGraphicFramePr/>
          <p:nvPr>
            <p:extLst>
              <p:ext uri="{D42A27DB-BD31-4B8C-83A1-F6EECF244321}">
                <p14:modId xmlns:p14="http://schemas.microsoft.com/office/powerpoint/2010/main" val="1839758346"/>
              </p:ext>
            </p:extLst>
          </p:nvPr>
        </p:nvGraphicFramePr>
        <p:xfrm>
          <a:off x="84667" y="1672223"/>
          <a:ext cx="4058285" cy="5177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608788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DB959FB-C2F9-ED36-276D-4208DDD4ADFE}"/>
            </a:ext>
          </a:extLst>
        </p:cNvPr>
        <p:cNvGrpSpPr/>
        <p:nvPr/>
      </p:nvGrpSpPr>
      <p:grpSpPr>
        <a:xfrm>
          <a:off x="0" y="0"/>
          <a:ext cx="0" cy="0"/>
          <a:chOff x="0" y="0"/>
          <a:chExt cx="0" cy="0"/>
        </a:xfrm>
      </p:grpSpPr>
      <p:sp useBgFill="1">
        <p:nvSpPr>
          <p:cNvPr id="1124" name="Rectangle 1123">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6F99A2-D690-6490-C9E0-2E187B461C54}"/>
              </a:ext>
            </a:extLst>
          </p:cNvPr>
          <p:cNvSpPr>
            <a:spLocks noGrp="1"/>
          </p:cNvSpPr>
          <p:nvPr>
            <p:ph type="title"/>
          </p:nvPr>
        </p:nvSpPr>
        <p:spPr>
          <a:xfrm>
            <a:off x="630936" y="457200"/>
            <a:ext cx="4343400" cy="1929384"/>
          </a:xfrm>
        </p:spPr>
        <p:txBody>
          <a:bodyPr anchor="ctr">
            <a:normAutofit/>
          </a:bodyPr>
          <a:lstStyle/>
          <a:p>
            <a:r>
              <a:rPr lang="en-US">
                <a:solidFill>
                  <a:schemeClr val="bg1"/>
                </a:solidFill>
              </a:rPr>
              <a:t>DFW Road Network &amp; Traffic Volume Visualized</a:t>
            </a:r>
          </a:p>
        </p:txBody>
      </p:sp>
      <p:sp>
        <p:nvSpPr>
          <p:cNvPr id="112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82FFD9-03D3-F1BD-1FFE-770269B3363E}"/>
              </a:ext>
            </a:extLst>
          </p:cNvPr>
          <p:cNvSpPr>
            <a:spLocks noGrp="1"/>
          </p:cNvSpPr>
          <p:nvPr>
            <p:ph idx="1"/>
          </p:nvPr>
        </p:nvSpPr>
        <p:spPr>
          <a:xfrm>
            <a:off x="5541263" y="345440"/>
            <a:ext cx="6319520" cy="2357120"/>
          </a:xfrm>
        </p:spPr>
        <p:txBody>
          <a:bodyPr anchor="ctr">
            <a:normAutofit/>
          </a:bodyPr>
          <a:lstStyle/>
          <a:p>
            <a:pPr rtl="0" fontAlgn="base">
              <a:buFont typeface="Arial" panose="020B0604020202020204" pitchFamily="34" charset="0"/>
              <a:buChar char="•"/>
            </a:pPr>
            <a:r>
              <a:rPr lang="en-US" sz="1100" b="1" i="0" u="none" strike="noStrike">
                <a:solidFill>
                  <a:schemeClr val="bg1"/>
                </a:solidFill>
                <a:effectLst/>
              </a:rPr>
              <a:t>Data Sources</a:t>
            </a:r>
          </a:p>
          <a:p>
            <a:pPr rtl="0" fontAlgn="base">
              <a:spcBef>
                <a:spcPts val="1000"/>
              </a:spcBef>
              <a:buFont typeface="Arial" panose="020B0604020202020204" pitchFamily="34" charset="0"/>
              <a:buChar char="•"/>
            </a:pPr>
            <a:r>
              <a:rPr lang="en-US" sz="1100" b="0" i="0" u="none" strike="noStrike">
                <a:solidFill>
                  <a:schemeClr val="bg1"/>
                </a:solidFill>
                <a:effectLst/>
              </a:rPr>
              <a:t>OpenStreetMap via </a:t>
            </a:r>
            <a:r>
              <a:rPr lang="en-US" sz="1100" b="0" i="0" u="none" strike="noStrike" err="1">
                <a:solidFill>
                  <a:schemeClr val="bg1"/>
                </a:solidFill>
                <a:effectLst/>
              </a:rPr>
              <a:t>osmdata</a:t>
            </a:r>
            <a:r>
              <a:rPr lang="en-US" sz="1100" b="0" i="0" u="none" strike="noStrike">
                <a:solidFill>
                  <a:schemeClr val="bg1"/>
                </a:solidFill>
                <a:effectLst/>
              </a:rPr>
              <a:t> (R) — motorway, primary, and secondary roads across 13 DFW counties</a:t>
            </a:r>
            <a:endParaRPr lang="en-US" sz="1100" b="1" i="0" u="none" strike="noStrike">
              <a:solidFill>
                <a:schemeClr val="bg1"/>
              </a:solidFill>
              <a:effectLst/>
            </a:endParaRPr>
          </a:p>
          <a:p>
            <a:pPr rtl="0" fontAlgn="base">
              <a:spcBef>
                <a:spcPts val="1000"/>
              </a:spcBef>
              <a:buFont typeface="Arial" panose="020B0604020202020204" pitchFamily="34" charset="0"/>
              <a:buChar char="•"/>
            </a:pPr>
            <a:r>
              <a:rPr lang="en-US" sz="1100" b="1" i="0" u="none" strike="noStrike">
                <a:solidFill>
                  <a:schemeClr val="bg1"/>
                </a:solidFill>
                <a:effectLst/>
              </a:rPr>
              <a:t>Traffic Volume as Emission Proxy</a:t>
            </a:r>
          </a:p>
          <a:p>
            <a:pPr rtl="0" fontAlgn="base">
              <a:spcBef>
                <a:spcPts val="1000"/>
              </a:spcBef>
              <a:buFont typeface="Arial" panose="020B0604020202020204" pitchFamily="34" charset="0"/>
              <a:buChar char="•"/>
            </a:pPr>
            <a:r>
              <a:rPr lang="en-US" sz="1100" b="0" i="0" u="none" strike="noStrike">
                <a:solidFill>
                  <a:schemeClr val="bg1"/>
                </a:solidFill>
                <a:effectLst/>
              </a:rPr>
              <a:t>TxDOT AADT points spatially joined to road segments, higher AADT = higher estimated emission exposure</a:t>
            </a:r>
            <a:endParaRPr lang="en-US" sz="1100" b="1" i="0" u="none" strike="noStrike">
              <a:solidFill>
                <a:schemeClr val="bg1"/>
              </a:solidFill>
              <a:effectLst/>
            </a:endParaRPr>
          </a:p>
          <a:p>
            <a:pPr rtl="0" fontAlgn="base">
              <a:spcBef>
                <a:spcPts val="1000"/>
              </a:spcBef>
              <a:buFont typeface="Arial" panose="020B0604020202020204" pitchFamily="34" charset="0"/>
              <a:buChar char="•"/>
            </a:pPr>
            <a:r>
              <a:rPr lang="en-US" sz="1100" b="1" i="0" u="none" strike="noStrike">
                <a:solidFill>
                  <a:schemeClr val="bg1"/>
                </a:solidFill>
                <a:effectLst/>
              </a:rPr>
              <a:t>Road Classification</a:t>
            </a:r>
          </a:p>
          <a:p>
            <a:pPr rtl="0" fontAlgn="base">
              <a:spcBef>
                <a:spcPts val="1000"/>
              </a:spcBef>
              <a:buFont typeface="Arial" panose="020B0604020202020204" pitchFamily="34" charset="0"/>
              <a:buChar char="•"/>
            </a:pPr>
            <a:r>
              <a:rPr lang="en-US" sz="1100" b="0" i="0" u="none" strike="noStrike">
                <a:solidFill>
                  <a:schemeClr val="bg1"/>
                </a:solidFill>
                <a:effectLst/>
              </a:rPr>
              <a:t>Highway → Primary Road → Secondary Road; color and line weight reflect traffic volume</a:t>
            </a:r>
          </a:p>
          <a:p>
            <a:endParaRPr lang="en-US" sz="1000">
              <a:solidFill>
                <a:schemeClr val="bg1"/>
              </a:solidFill>
            </a:endParaRPr>
          </a:p>
        </p:txBody>
      </p:sp>
      <p:pic>
        <p:nvPicPr>
          <p:cNvPr id="9" name="Picture 8">
            <a:extLst>
              <a:ext uri="{FF2B5EF4-FFF2-40B4-BE49-F238E27FC236}">
                <a16:creationId xmlns:a16="http://schemas.microsoft.com/office/drawing/2014/main" id="{E7C2F77F-D81F-7CC0-7700-62791E51DDEF}"/>
              </a:ext>
            </a:extLst>
          </p:cNvPr>
          <p:cNvPicPr>
            <a:picLocks noChangeAspect="1"/>
          </p:cNvPicPr>
          <p:nvPr/>
        </p:nvPicPr>
        <p:blipFill>
          <a:blip r:embed="rId3"/>
          <a:srcRect l="2599" t="8469" r="4283" b="10303"/>
          <a:stretch>
            <a:fillRect/>
          </a:stretch>
        </p:blipFill>
        <p:spPr>
          <a:xfrm>
            <a:off x="629192" y="2721864"/>
            <a:ext cx="5158960" cy="3678936"/>
          </a:xfrm>
          <a:prstGeom prst="rect">
            <a:avLst/>
          </a:prstGeom>
        </p:spPr>
      </p:pic>
      <p:pic>
        <p:nvPicPr>
          <p:cNvPr id="11" name="Picture 10">
            <a:extLst>
              <a:ext uri="{FF2B5EF4-FFF2-40B4-BE49-F238E27FC236}">
                <a16:creationId xmlns:a16="http://schemas.microsoft.com/office/drawing/2014/main" id="{41C15B29-28FD-9930-EEEC-3C1CE9876556}"/>
              </a:ext>
            </a:extLst>
          </p:cNvPr>
          <p:cNvPicPr>
            <a:picLocks noChangeAspect="1"/>
          </p:cNvPicPr>
          <p:nvPr/>
        </p:nvPicPr>
        <p:blipFill>
          <a:blip r:embed="rId4"/>
          <a:srcRect l="3015" t="68" r="8123" b="7501"/>
          <a:stretch>
            <a:fillRect/>
          </a:stretch>
        </p:blipFill>
        <p:spPr>
          <a:xfrm>
            <a:off x="6220970" y="2721864"/>
            <a:ext cx="5107412" cy="3678936"/>
          </a:xfrm>
          <a:prstGeom prst="rect">
            <a:avLst/>
          </a:prstGeom>
        </p:spPr>
      </p:pic>
    </p:spTree>
    <p:extLst>
      <p:ext uri="{BB962C8B-B14F-4D97-AF65-F5344CB8AC3E}">
        <p14:creationId xmlns:p14="http://schemas.microsoft.com/office/powerpoint/2010/main" val="384917939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Person pointing on a map">
            <a:extLst>
              <a:ext uri="{FF2B5EF4-FFF2-40B4-BE49-F238E27FC236}">
                <a16:creationId xmlns:a16="http://schemas.microsoft.com/office/drawing/2014/main" id="{37DA1514-1BC2-55E8-C28A-0493CED8F7CC}"/>
              </a:ext>
            </a:extLst>
          </p:cNvPr>
          <p:cNvPicPr>
            <a:picLocks noChangeAspect="1"/>
          </p:cNvPicPr>
          <p:nvPr/>
        </p:nvPicPr>
        <p:blipFill>
          <a:blip r:embed="rId3"/>
          <a:srcRect r="5882" b="-1"/>
          <a:stretch>
            <a:fillRect/>
          </a:stretch>
        </p:blipFill>
        <p:spPr>
          <a:xfrm>
            <a:off x="2522358"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tx1"/>
              </a:gs>
              <a:gs pos="35000">
                <a:schemeClr val="tx1">
                  <a:alpha val="77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D21D9B-49A8-A308-E684-DD7E51F0AFE4}"/>
              </a:ext>
            </a:extLst>
          </p:cNvPr>
          <p:cNvSpPr>
            <a:spLocks noGrp="1"/>
          </p:cNvSpPr>
          <p:nvPr>
            <p:ph type="title"/>
          </p:nvPr>
        </p:nvSpPr>
        <p:spPr>
          <a:xfrm>
            <a:off x="952228" y="743447"/>
            <a:ext cx="3973385" cy="3692028"/>
          </a:xfrm>
          <a:noFill/>
        </p:spPr>
        <p:txBody>
          <a:bodyPr vert="horz" lIns="91440" tIns="45720" rIns="91440" bIns="45720" rtlCol="0" anchor="b">
            <a:normAutofit/>
          </a:bodyPr>
          <a:lstStyle/>
          <a:p>
            <a:r>
              <a:rPr lang="en-US" sz="4800">
                <a:solidFill>
                  <a:schemeClr val="bg1"/>
                </a:solidFill>
              </a:rPr>
              <a:t>Demographics of the DFW Area</a:t>
            </a:r>
          </a:p>
        </p:txBody>
      </p:sp>
    </p:spTree>
    <p:extLst>
      <p:ext uri="{BB962C8B-B14F-4D97-AF65-F5344CB8AC3E}">
        <p14:creationId xmlns:p14="http://schemas.microsoft.com/office/powerpoint/2010/main" val="284589962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63EF77-FAB9-F231-5FA2-AA1FDA51754C}"/>
              </a:ext>
            </a:extLst>
          </p:cNvPr>
          <p:cNvSpPr>
            <a:spLocks noGrp="1"/>
          </p:cNvSpPr>
          <p:nvPr>
            <p:ph type="title"/>
          </p:nvPr>
        </p:nvSpPr>
        <p:spPr>
          <a:xfrm>
            <a:off x="7531610" y="365125"/>
            <a:ext cx="3822189" cy="1899912"/>
          </a:xfrm>
        </p:spPr>
        <p:txBody>
          <a:bodyPr>
            <a:normAutofit/>
          </a:bodyPr>
          <a:lstStyle/>
          <a:p>
            <a:r>
              <a:rPr lang="en-US" sz="4000"/>
              <a:t>Mapping Census Data</a:t>
            </a:r>
          </a:p>
        </p:txBody>
      </p:sp>
      <p:pic>
        <p:nvPicPr>
          <p:cNvPr id="4" name="Picture 3">
            <a:extLst>
              <a:ext uri="{FF2B5EF4-FFF2-40B4-BE49-F238E27FC236}">
                <a16:creationId xmlns:a16="http://schemas.microsoft.com/office/drawing/2014/main" id="{2FB22A65-37A7-B295-10A4-EDA68228E81A}"/>
              </a:ext>
            </a:extLst>
          </p:cNvPr>
          <p:cNvPicPr>
            <a:picLocks noChangeAspect="1"/>
          </p:cNvPicPr>
          <p:nvPr/>
        </p:nvPicPr>
        <p:blipFill>
          <a:blip r:embed="rId3"/>
          <a:srcRect l="55" r="3354" b="1"/>
          <a:stretch>
            <a:fillRect/>
          </a:stretch>
        </p:blipFill>
        <p:spPr>
          <a:xfrm>
            <a:off x="1" y="10"/>
            <a:ext cx="6936390" cy="6857990"/>
          </a:xfrm>
          <a:prstGeom prst="rect">
            <a:avLst/>
          </a:prstGeom>
        </p:spPr>
      </p:pic>
      <p:sp>
        <p:nvSpPr>
          <p:cNvPr id="3" name="Content Placeholder 2">
            <a:extLst>
              <a:ext uri="{FF2B5EF4-FFF2-40B4-BE49-F238E27FC236}">
                <a16:creationId xmlns:a16="http://schemas.microsoft.com/office/drawing/2014/main" id="{7F0EED4E-9BB2-E065-7387-3D13443C9551}"/>
              </a:ext>
            </a:extLst>
          </p:cNvPr>
          <p:cNvSpPr>
            <a:spLocks noGrp="1"/>
          </p:cNvSpPr>
          <p:nvPr>
            <p:ph idx="1"/>
          </p:nvPr>
        </p:nvSpPr>
        <p:spPr>
          <a:xfrm>
            <a:off x="7531610" y="2434201"/>
            <a:ext cx="3822189" cy="3742762"/>
          </a:xfrm>
        </p:spPr>
        <p:txBody>
          <a:bodyPr>
            <a:normAutofit/>
          </a:bodyPr>
          <a:lstStyle/>
          <a:p>
            <a:r>
              <a:rPr lang="en-US" sz="1900"/>
              <a:t>Using Tidycensus package to use data from the US Census Bureau</a:t>
            </a:r>
          </a:p>
          <a:p>
            <a:pPr lvl="1"/>
            <a:r>
              <a:rPr lang="en-US" sz="1900"/>
              <a:t>Swapping out variables to gain data for Household Income, Population (and density), and Race/Ethnicity</a:t>
            </a:r>
          </a:p>
          <a:p>
            <a:r>
              <a:rPr lang="en-US" sz="1900"/>
              <a:t>Examined on a census tract level for all 10 counties of the area</a:t>
            </a:r>
          </a:p>
          <a:p>
            <a:r>
              <a:rPr lang="en-US" sz="1900"/>
              <a:t>Mapped with tmap package as a basic baseline for future analysis/regressions</a:t>
            </a:r>
          </a:p>
        </p:txBody>
      </p:sp>
    </p:spTree>
    <p:extLst>
      <p:ext uri="{BB962C8B-B14F-4D97-AF65-F5344CB8AC3E}">
        <p14:creationId xmlns:p14="http://schemas.microsoft.com/office/powerpoint/2010/main" val="30647681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ree Images : light, blur, skyline, traffic, night, city, urban ...">
            <a:extLst>
              <a:ext uri="{FF2B5EF4-FFF2-40B4-BE49-F238E27FC236}">
                <a16:creationId xmlns:a16="http://schemas.microsoft.com/office/drawing/2014/main" id="{133B9BA6-EA0D-E785-257C-A88F3D1E088E}"/>
              </a:ext>
            </a:extLst>
          </p:cNvPr>
          <p:cNvPicPr>
            <a:picLocks noChangeAspect="1"/>
          </p:cNvPicPr>
          <p:nvPr/>
        </p:nvPicPr>
        <p:blipFill>
          <a:blip r:embed="rId3">
            <a:extLst>
              <a:ext uri="{837473B0-CC2E-450A-ABE3-18F120FF3D39}">
                <a1611:picAttrSrcUrl xmlns:a1611="http://schemas.microsoft.com/office/drawing/2016/11/main" r:id="rId4"/>
              </a:ext>
            </a:extLst>
          </a:blip>
          <a:srcRect t="9091" r="23289"/>
          <a:stretch>
            <a:fillRect/>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5AA083-86CF-589B-AF61-B17544EED94F}"/>
              </a:ext>
            </a:extLst>
          </p:cNvPr>
          <p:cNvSpPr>
            <a:spLocks noGrp="1"/>
          </p:cNvSpPr>
          <p:nvPr>
            <p:ph type="title"/>
          </p:nvPr>
        </p:nvSpPr>
        <p:spPr>
          <a:xfrm>
            <a:off x="371094" y="1161288"/>
            <a:ext cx="3438144" cy="1124712"/>
          </a:xfrm>
        </p:spPr>
        <p:txBody>
          <a:bodyPr anchor="b">
            <a:normAutofit fontScale="90000"/>
          </a:bodyPr>
          <a:lstStyle/>
          <a:p>
            <a:r>
              <a:rPr lang="en-US" sz="2600" b="1">
                <a:solidFill>
                  <a:schemeClr val="bg1"/>
                </a:solidFill>
              </a:rPr>
              <a:t>Correlating Census Data with Traffic Volumes </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a:extLst>
              <a:ext uri="{FF2B5EF4-FFF2-40B4-BE49-F238E27FC236}">
                <a16:creationId xmlns:a16="http://schemas.microsoft.com/office/drawing/2014/main" id="{E0D09FEA-0B38-AD34-534E-F2A67577C223}"/>
              </a:ext>
            </a:extLst>
          </p:cNvPr>
          <p:cNvSpPr txBox="1">
            <a:spLocks/>
          </p:cNvSpPr>
          <p:nvPr/>
        </p:nvSpPr>
        <p:spPr>
          <a:xfrm>
            <a:off x="371094" y="2530601"/>
            <a:ext cx="3438144" cy="11247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600">
              <a:solidFill>
                <a:schemeClr val="bg1"/>
              </a:solidFill>
            </a:endParaRPr>
          </a:p>
        </p:txBody>
      </p:sp>
      <p:sp>
        <p:nvSpPr>
          <p:cNvPr id="21" name="TextBox 20">
            <a:extLst>
              <a:ext uri="{FF2B5EF4-FFF2-40B4-BE49-F238E27FC236}">
                <a16:creationId xmlns:a16="http://schemas.microsoft.com/office/drawing/2014/main" id="{49679688-5413-BC1A-CAAC-D796C1521573}"/>
              </a:ext>
            </a:extLst>
          </p:cNvPr>
          <p:cNvSpPr txBox="1"/>
          <p:nvPr/>
        </p:nvSpPr>
        <p:spPr>
          <a:xfrm>
            <a:off x="8964806" y="5164290"/>
            <a:ext cx="3015201" cy="1477328"/>
          </a:xfrm>
          <a:prstGeom prst="rect">
            <a:avLst/>
          </a:prstGeom>
          <a:noFill/>
        </p:spPr>
        <p:txBody>
          <a:bodyPr wrap="square" rtlCol="0">
            <a:spAutoFit/>
          </a:bodyPr>
          <a:lstStyle/>
          <a:p>
            <a:pPr algn="r"/>
            <a:r>
              <a:rPr lang="en-US">
                <a:solidFill>
                  <a:schemeClr val="bg1"/>
                </a:solidFill>
              </a:rPr>
              <a:t>With this data, we can easily detect which DFW communities are most susceptible to traffic related emissions. </a:t>
            </a:r>
          </a:p>
        </p:txBody>
      </p:sp>
      <p:sp>
        <p:nvSpPr>
          <p:cNvPr id="22" name="TextBox 21">
            <a:extLst>
              <a:ext uri="{FF2B5EF4-FFF2-40B4-BE49-F238E27FC236}">
                <a16:creationId xmlns:a16="http://schemas.microsoft.com/office/drawing/2014/main" id="{52E46875-FA0E-C3C1-B59A-248E97E15521}"/>
              </a:ext>
            </a:extLst>
          </p:cNvPr>
          <p:cNvSpPr txBox="1"/>
          <p:nvPr/>
        </p:nvSpPr>
        <p:spPr>
          <a:xfrm>
            <a:off x="523494" y="3040632"/>
            <a:ext cx="3015201" cy="2862322"/>
          </a:xfrm>
          <a:prstGeom prst="rect">
            <a:avLst/>
          </a:prstGeom>
          <a:noFill/>
        </p:spPr>
        <p:txBody>
          <a:bodyPr wrap="square" rtlCol="0">
            <a:spAutoFit/>
          </a:bodyPr>
          <a:lstStyle/>
          <a:p>
            <a:r>
              <a:rPr lang="en-US">
                <a:solidFill>
                  <a:schemeClr val="bg1"/>
                </a:solidFill>
              </a:rPr>
              <a:t>Using H3 cells AADT data  from point collections </a:t>
            </a:r>
          </a:p>
          <a:p>
            <a:r>
              <a:rPr lang="en-US">
                <a:solidFill>
                  <a:schemeClr val="bg1"/>
                </a:solidFill>
              </a:rPr>
              <a:t>was extrapolated onto the DFW area with a resolution of 9.</a:t>
            </a:r>
          </a:p>
          <a:p>
            <a:endParaRPr lang="en-US">
              <a:solidFill>
                <a:schemeClr val="bg1"/>
              </a:solidFill>
            </a:endParaRPr>
          </a:p>
          <a:p>
            <a:r>
              <a:rPr lang="en-US">
                <a:solidFill>
                  <a:schemeClr val="bg1"/>
                </a:solidFill>
              </a:rPr>
              <a:t>These H3 cells were then overlaid with census tracts, to produce the following maps and graphs.</a:t>
            </a:r>
          </a:p>
        </p:txBody>
      </p:sp>
    </p:spTree>
    <p:extLst>
      <p:ext uri="{BB962C8B-B14F-4D97-AF65-F5344CB8AC3E}">
        <p14:creationId xmlns:p14="http://schemas.microsoft.com/office/powerpoint/2010/main" val="37191064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63E1B8-B7B0-714A-4609-D632B66FDD18}"/>
            </a:ext>
          </a:extLst>
        </p:cNvPr>
        <p:cNvGrpSpPr/>
        <p:nvPr/>
      </p:nvGrpSpPr>
      <p:grpSpPr>
        <a:xfrm>
          <a:off x="0" y="0"/>
          <a:ext cx="0" cy="0"/>
          <a:chOff x="0" y="0"/>
          <a:chExt cx="0" cy="0"/>
        </a:xfrm>
      </p:grpSpPr>
      <p:sp>
        <p:nvSpPr>
          <p:cNvPr id="1040" name="Rectangle 1039">
            <a:extLst>
              <a:ext uri="{FF2B5EF4-FFF2-40B4-BE49-F238E27FC236}">
                <a16:creationId xmlns:a16="http://schemas.microsoft.com/office/drawing/2014/main" id="{B250C39F-3F6C-4D53-86D2-7BC6B2FF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dallas altitude-30 - Andy's Travel Blog">
            <a:extLst>
              <a:ext uri="{FF2B5EF4-FFF2-40B4-BE49-F238E27FC236}">
                <a16:creationId xmlns:a16="http://schemas.microsoft.com/office/drawing/2014/main" id="{1638863D-43BF-D1EA-86A3-22F64934D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326" b="6405"/>
          <a:stretch>
            <a:fillRect/>
          </a:stretch>
        </p:blipFill>
        <p:spPr bwMode="auto">
          <a:xfrm>
            <a:off x="126206" y="115193"/>
            <a:ext cx="11939588" cy="66276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pic>
      <p:sp>
        <p:nvSpPr>
          <p:cNvPr id="1042" name="Rectangle 1041">
            <a:extLst>
              <a:ext uri="{FF2B5EF4-FFF2-40B4-BE49-F238E27FC236}">
                <a16:creationId xmlns:a16="http://schemas.microsoft.com/office/drawing/2014/main" id="{70A48D59-8581-41F7-B529-F4617FE0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6000">
                <a:schemeClr val="tx1">
                  <a:lumMod val="95000"/>
                  <a:lumOff val="5000"/>
                </a:schemeClr>
              </a:gs>
              <a:gs pos="90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C0A88C-31E0-F958-75C3-25DE0F9C4376}"/>
              </a:ext>
            </a:extLst>
          </p:cNvPr>
          <p:cNvSpPr>
            <a:spLocks noGrp="1"/>
          </p:cNvSpPr>
          <p:nvPr>
            <p:ph type="title"/>
          </p:nvPr>
        </p:nvSpPr>
        <p:spPr>
          <a:xfrm>
            <a:off x="666541" y="675045"/>
            <a:ext cx="3652752" cy="768423"/>
          </a:xfrm>
        </p:spPr>
        <p:txBody>
          <a:bodyPr vert="horz" lIns="91440" tIns="45720" rIns="91440" bIns="45720" rtlCol="0" anchor="b">
            <a:normAutofit/>
          </a:bodyPr>
          <a:lstStyle/>
          <a:p>
            <a:r>
              <a:rPr lang="en-US" sz="3200" b="1">
                <a:solidFill>
                  <a:schemeClr val="bg1"/>
                </a:solidFill>
              </a:rPr>
              <a:t>Regression Analysis</a:t>
            </a:r>
          </a:p>
        </p:txBody>
      </p:sp>
      <p:sp>
        <p:nvSpPr>
          <p:cNvPr id="3" name="TextBox 2">
            <a:extLst>
              <a:ext uri="{FF2B5EF4-FFF2-40B4-BE49-F238E27FC236}">
                <a16:creationId xmlns:a16="http://schemas.microsoft.com/office/drawing/2014/main" id="{5A2E0627-257B-8CC4-43B9-1AC073889636}"/>
              </a:ext>
            </a:extLst>
          </p:cNvPr>
          <p:cNvSpPr txBox="1"/>
          <p:nvPr/>
        </p:nvSpPr>
        <p:spPr>
          <a:xfrm>
            <a:off x="768141" y="1585032"/>
            <a:ext cx="4724400" cy="4992034"/>
          </a:xfrm>
          <a:prstGeom prst="rect">
            <a:avLst/>
          </a:prstGeom>
        </p:spPr>
        <p:txBody>
          <a:bodyPr vert="horz" lIns="91440" tIns="45720" rIns="91440" bIns="45720" rtlCol="0">
            <a:noAutofit/>
          </a:bodyPr>
          <a:lstStyle/>
          <a:p>
            <a:pPr marL="285750" indent="-285750" defTabSz="914400">
              <a:lnSpc>
                <a:spcPct val="90000"/>
              </a:lnSpc>
              <a:spcAft>
                <a:spcPts val="600"/>
              </a:spcAft>
              <a:buFont typeface="Arial" panose="020B0604020202020204" pitchFamily="34" charset="0"/>
              <a:buChar char="•"/>
            </a:pPr>
            <a:r>
              <a:rPr lang="en-US">
                <a:solidFill>
                  <a:schemeClr val="bg1"/>
                </a:solidFill>
              </a:rPr>
              <a:t>Tested whether estimated traffic exposure varies across different socioeconomic groups.</a:t>
            </a:r>
          </a:p>
          <a:p>
            <a:pPr defTabSz="914400">
              <a:lnSpc>
                <a:spcPct val="90000"/>
              </a:lnSpc>
              <a:spcAft>
                <a:spcPts val="600"/>
              </a:spcAft>
            </a:pPr>
            <a:endParaRPr lang="en-US">
              <a:solidFill>
                <a:schemeClr val="bg1"/>
              </a:solidFill>
            </a:endParaRPr>
          </a:p>
          <a:p>
            <a:pPr marL="285750" indent="-285750" defTabSz="914400">
              <a:lnSpc>
                <a:spcPct val="90000"/>
              </a:lnSpc>
              <a:spcAft>
                <a:spcPts val="600"/>
              </a:spcAft>
              <a:buFont typeface="Arial" panose="020B0604020202020204" pitchFamily="34" charset="0"/>
              <a:buChar char="•"/>
            </a:pPr>
            <a:r>
              <a:rPr lang="en-US">
                <a:solidFill>
                  <a:schemeClr val="bg1"/>
                </a:solidFill>
              </a:rPr>
              <a:t>Dependent Variable used:</a:t>
            </a:r>
          </a:p>
          <a:p>
            <a:pPr marL="742950" lvl="1" indent="-285750" defTabSz="914400">
              <a:lnSpc>
                <a:spcPct val="90000"/>
              </a:lnSpc>
              <a:spcAft>
                <a:spcPts val="600"/>
              </a:spcAft>
              <a:buFont typeface="Arial" panose="020B0604020202020204" pitchFamily="34" charset="0"/>
              <a:buChar char="•"/>
            </a:pPr>
            <a:r>
              <a:rPr lang="en-US">
                <a:solidFill>
                  <a:schemeClr val="bg1"/>
                </a:solidFill>
              </a:rPr>
              <a:t>Estimated traffic exposure score </a:t>
            </a:r>
          </a:p>
          <a:p>
            <a:pPr marL="1200150" lvl="2" indent="-285750" defTabSz="914400">
              <a:lnSpc>
                <a:spcPct val="90000"/>
              </a:lnSpc>
              <a:spcAft>
                <a:spcPts val="600"/>
              </a:spcAft>
              <a:buFont typeface="Arial" panose="020B0604020202020204" pitchFamily="34" charset="0"/>
              <a:buChar char="•"/>
            </a:pPr>
            <a:r>
              <a:rPr lang="en-US">
                <a:solidFill>
                  <a:schemeClr val="bg1"/>
                </a:solidFill>
              </a:rPr>
              <a:t>based on AADT traffic count values </a:t>
            </a:r>
          </a:p>
          <a:p>
            <a:pPr marL="1200150" lvl="2" indent="-285750" defTabSz="914400">
              <a:lnSpc>
                <a:spcPct val="90000"/>
              </a:lnSpc>
              <a:spcAft>
                <a:spcPts val="600"/>
              </a:spcAft>
              <a:buFont typeface="Arial" panose="020B0604020202020204" pitchFamily="34" charset="0"/>
              <a:buChar char="•"/>
            </a:pPr>
            <a:r>
              <a:rPr lang="en-US">
                <a:solidFill>
                  <a:schemeClr val="bg1"/>
                </a:solidFill>
              </a:rPr>
              <a:t>summarized by census tract </a:t>
            </a:r>
          </a:p>
          <a:p>
            <a:pPr lvl="2" defTabSz="914400">
              <a:lnSpc>
                <a:spcPct val="90000"/>
              </a:lnSpc>
              <a:spcAft>
                <a:spcPts val="600"/>
              </a:spcAft>
            </a:pPr>
            <a:endParaRPr lang="en-US">
              <a:solidFill>
                <a:schemeClr val="bg1"/>
              </a:solidFill>
            </a:endParaRPr>
          </a:p>
          <a:p>
            <a:pPr indent="-228600" defTabSz="914400">
              <a:lnSpc>
                <a:spcPct val="90000"/>
              </a:lnSpc>
              <a:spcAft>
                <a:spcPts val="600"/>
              </a:spcAft>
              <a:buFont typeface="Arial" panose="020B0604020202020204" pitchFamily="34" charset="0"/>
              <a:buChar char="•"/>
            </a:pPr>
            <a:r>
              <a:rPr lang="en-US">
                <a:solidFill>
                  <a:schemeClr val="bg1"/>
                </a:solidFill>
              </a:rPr>
              <a:t>Independent variables used:</a:t>
            </a:r>
          </a:p>
          <a:p>
            <a:pPr defTabSz="914400">
              <a:lnSpc>
                <a:spcPct val="90000"/>
              </a:lnSpc>
              <a:spcAft>
                <a:spcPts val="600"/>
              </a:spcAft>
            </a:pPr>
            <a:r>
              <a:rPr lang="en-US">
                <a:solidFill>
                  <a:schemeClr val="bg1"/>
                </a:solidFill>
              </a:rPr>
              <a:t>	-      Median household income </a:t>
            </a:r>
          </a:p>
          <a:p>
            <a:pPr defTabSz="914400">
              <a:lnSpc>
                <a:spcPct val="90000"/>
              </a:lnSpc>
              <a:spcAft>
                <a:spcPts val="600"/>
              </a:spcAft>
            </a:pPr>
            <a:r>
              <a:rPr lang="en-US">
                <a:solidFill>
                  <a:schemeClr val="bg1"/>
                </a:solidFill>
              </a:rPr>
              <a:t>	-      Population density </a:t>
            </a:r>
          </a:p>
          <a:p>
            <a:pPr defTabSz="914400">
              <a:lnSpc>
                <a:spcPct val="90000"/>
              </a:lnSpc>
              <a:spcAft>
                <a:spcPts val="600"/>
              </a:spcAft>
            </a:pPr>
            <a:r>
              <a:rPr lang="en-US">
                <a:solidFill>
                  <a:schemeClr val="bg1"/>
                </a:solidFill>
              </a:rPr>
              <a:t>	-      Percent minority population </a:t>
            </a:r>
          </a:p>
        </p:txBody>
      </p:sp>
      <p:sp>
        <p:nvSpPr>
          <p:cNvPr id="1044" name="Rectangle 1043">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358C0C0-B047-8D52-EEC8-5CBD66E6C6A6}"/>
              </a:ext>
            </a:extLst>
          </p:cNvPr>
          <p:cNvSpPr txBox="1">
            <a:spLocks/>
          </p:cNvSpPr>
          <p:nvPr/>
        </p:nvSpPr>
        <p:spPr>
          <a:xfrm>
            <a:off x="371094" y="2530601"/>
            <a:ext cx="3438144" cy="11247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600">
              <a:solidFill>
                <a:schemeClr val="bg1"/>
              </a:solidFill>
            </a:endParaRPr>
          </a:p>
        </p:txBody>
      </p:sp>
      <p:cxnSp>
        <p:nvCxnSpPr>
          <p:cNvPr id="18" name="Straight Connector 17">
            <a:extLst>
              <a:ext uri="{FF2B5EF4-FFF2-40B4-BE49-F238E27FC236}">
                <a16:creationId xmlns:a16="http://schemas.microsoft.com/office/drawing/2014/main" id="{8CB352C0-B8FB-E1DE-F18F-68CD638BCEE3}"/>
              </a:ext>
            </a:extLst>
          </p:cNvPr>
          <p:cNvCxnSpPr>
            <a:cxnSpLocks/>
          </p:cNvCxnSpPr>
          <p:nvPr/>
        </p:nvCxnSpPr>
        <p:spPr>
          <a:xfrm>
            <a:off x="768141" y="1443468"/>
            <a:ext cx="345661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24067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9CFC1D-1D0E-F6C7-B2CA-EEB91376B87B}"/>
              </a:ext>
            </a:extLst>
          </p:cNvPr>
          <p:cNvPicPr>
            <a:picLocks noChangeAspect="1"/>
          </p:cNvPicPr>
          <p:nvPr/>
        </p:nvPicPr>
        <p:blipFill>
          <a:blip r:embed="rId3"/>
          <a:stretch>
            <a:fillRect/>
          </a:stretch>
        </p:blipFill>
        <p:spPr>
          <a:xfrm>
            <a:off x="160125" y="574223"/>
            <a:ext cx="6806207" cy="4861576"/>
          </a:xfrm>
          <a:prstGeom prst="rect">
            <a:avLst/>
          </a:prstGeom>
          <a:ln>
            <a:solidFill>
              <a:schemeClr val="tx1"/>
            </a:solidFill>
          </a:ln>
        </p:spPr>
      </p:pic>
      <p:pic>
        <p:nvPicPr>
          <p:cNvPr id="13" name="Picture 12">
            <a:extLst>
              <a:ext uri="{FF2B5EF4-FFF2-40B4-BE49-F238E27FC236}">
                <a16:creationId xmlns:a16="http://schemas.microsoft.com/office/drawing/2014/main" id="{73BC3C2A-B017-2232-4689-1C57EEAF9D35}"/>
              </a:ext>
            </a:extLst>
          </p:cNvPr>
          <p:cNvPicPr>
            <a:picLocks noChangeAspect="1"/>
          </p:cNvPicPr>
          <p:nvPr/>
        </p:nvPicPr>
        <p:blipFill>
          <a:blip r:embed="rId4"/>
          <a:stretch>
            <a:fillRect/>
          </a:stretch>
        </p:blipFill>
        <p:spPr>
          <a:xfrm>
            <a:off x="7186768" y="3535369"/>
            <a:ext cx="4610365" cy="2770148"/>
          </a:xfrm>
          <a:prstGeom prst="rect">
            <a:avLst/>
          </a:prstGeom>
          <a:ln>
            <a:solidFill>
              <a:schemeClr val="tx1"/>
            </a:solidFill>
          </a:ln>
        </p:spPr>
      </p:pic>
      <p:pic>
        <p:nvPicPr>
          <p:cNvPr id="10" name="Picture 9">
            <a:extLst>
              <a:ext uri="{FF2B5EF4-FFF2-40B4-BE49-F238E27FC236}">
                <a16:creationId xmlns:a16="http://schemas.microsoft.com/office/drawing/2014/main" id="{EAFAEF4D-F29A-228A-E633-D6231E136F72}"/>
              </a:ext>
            </a:extLst>
          </p:cNvPr>
          <p:cNvPicPr>
            <a:picLocks noChangeAspect="1"/>
          </p:cNvPicPr>
          <p:nvPr/>
        </p:nvPicPr>
        <p:blipFill>
          <a:blip r:embed="rId5"/>
          <a:stretch>
            <a:fillRect/>
          </a:stretch>
        </p:blipFill>
        <p:spPr>
          <a:xfrm>
            <a:off x="7186768" y="583746"/>
            <a:ext cx="4610365" cy="2845254"/>
          </a:xfrm>
          <a:prstGeom prst="rect">
            <a:avLst/>
          </a:prstGeom>
          <a:ln>
            <a:solidFill>
              <a:schemeClr val="tx1"/>
            </a:solidFill>
          </a:ln>
        </p:spPr>
      </p:pic>
      <p:sp>
        <p:nvSpPr>
          <p:cNvPr id="12" name="TextBox 11">
            <a:extLst>
              <a:ext uri="{FF2B5EF4-FFF2-40B4-BE49-F238E27FC236}">
                <a16:creationId xmlns:a16="http://schemas.microsoft.com/office/drawing/2014/main" id="{1511FE8F-BE86-4883-E808-1310F18CD292}"/>
              </a:ext>
            </a:extLst>
          </p:cNvPr>
          <p:cNvSpPr txBox="1"/>
          <p:nvPr/>
        </p:nvSpPr>
        <p:spPr>
          <a:xfrm>
            <a:off x="0" y="70388"/>
            <a:ext cx="4026061" cy="400110"/>
          </a:xfrm>
          <a:prstGeom prst="rect">
            <a:avLst/>
          </a:prstGeom>
          <a:noFill/>
        </p:spPr>
        <p:txBody>
          <a:bodyPr wrap="square">
            <a:spAutoFit/>
          </a:bodyPr>
          <a:lstStyle/>
          <a:p>
            <a:pPr algn="ctr">
              <a:buNone/>
            </a:pPr>
            <a:r>
              <a:rPr lang="en-US" sz="2000">
                <a:effectLst/>
                <a:latin typeface="+mj-lt"/>
              </a:rPr>
              <a:t>Traffic Exposure Regression Results</a:t>
            </a:r>
          </a:p>
        </p:txBody>
      </p:sp>
      <p:cxnSp>
        <p:nvCxnSpPr>
          <p:cNvPr id="15" name="Straight Connector 14">
            <a:extLst>
              <a:ext uri="{FF2B5EF4-FFF2-40B4-BE49-F238E27FC236}">
                <a16:creationId xmlns:a16="http://schemas.microsoft.com/office/drawing/2014/main" id="{20425DF9-E756-7B0E-FA7F-8B774B7AE4C5}"/>
              </a:ext>
            </a:extLst>
          </p:cNvPr>
          <p:cNvCxnSpPr>
            <a:cxnSpLocks/>
          </p:cNvCxnSpPr>
          <p:nvPr/>
        </p:nvCxnSpPr>
        <p:spPr>
          <a:xfrm>
            <a:off x="179760" y="470498"/>
            <a:ext cx="366654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5F85EF5-EC02-68FB-B2F7-9D142237FC54}"/>
              </a:ext>
            </a:extLst>
          </p:cNvPr>
          <p:cNvSpPr txBox="1"/>
          <p:nvPr/>
        </p:nvSpPr>
        <p:spPr>
          <a:xfrm>
            <a:off x="160125" y="5659186"/>
            <a:ext cx="6806206" cy="646331"/>
          </a:xfrm>
          <a:prstGeom prst="rect">
            <a:avLst/>
          </a:prstGeom>
          <a:noFill/>
          <a:ln>
            <a:solidFill>
              <a:schemeClr val="tx2">
                <a:lumMod val="75000"/>
                <a:lumOff val="25000"/>
              </a:schemeClr>
            </a:solidFill>
          </a:ln>
        </p:spPr>
        <p:txBody>
          <a:bodyPr wrap="square">
            <a:spAutoFit/>
          </a:bodyPr>
          <a:lstStyle/>
          <a:p>
            <a:pPr>
              <a:buNone/>
            </a:pPr>
            <a:r>
              <a:rPr lang="en-US">
                <a:effectLst/>
                <a:latin typeface="+mj-lt"/>
              </a:rPr>
              <a:t>Income relationship:</a:t>
            </a:r>
          </a:p>
          <a:p>
            <a:pPr>
              <a:buNone/>
            </a:pPr>
            <a:r>
              <a:rPr lang="en-US">
                <a:effectLst/>
                <a:latin typeface="+mj-lt"/>
              </a:rPr>
              <a:t>Slight negative trend, relationship appears weak overall.</a:t>
            </a:r>
          </a:p>
        </p:txBody>
      </p:sp>
    </p:spTree>
    <p:extLst>
      <p:ext uri="{BB962C8B-B14F-4D97-AF65-F5344CB8AC3E}">
        <p14:creationId xmlns:p14="http://schemas.microsoft.com/office/powerpoint/2010/main" val="11799465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descr="dallas altitude-30 - Andy's Travel Blog">
            <a:extLst>
              <a:ext uri="{FF2B5EF4-FFF2-40B4-BE49-F238E27FC236}">
                <a16:creationId xmlns:a16="http://schemas.microsoft.com/office/drawing/2014/main" id="{29C4FB44-7180-102C-9111-BD4D14FE2F34}"/>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t="9326" b="6405"/>
          <a:stretch>
            <a:fillRect/>
          </a:stretch>
        </p:blipFill>
        <p:spPr bwMode="auto">
          <a:xfrm>
            <a:off x="208315" y="115194"/>
            <a:ext cx="11857476" cy="6557809"/>
          </a:xfrm>
          <a:prstGeom prst="rect">
            <a:avLst/>
          </a:prstGeom>
          <a:noFill/>
          <a:ln>
            <a:noFill/>
          </a:ln>
        </p:spPr>
      </p:pic>
      <p:sp>
        <p:nvSpPr>
          <p:cNvPr id="2" name="Title 1">
            <a:extLst>
              <a:ext uri="{FF2B5EF4-FFF2-40B4-BE49-F238E27FC236}">
                <a16:creationId xmlns:a16="http://schemas.microsoft.com/office/drawing/2014/main" id="{02897282-A466-4E3F-0B5B-6FF82F176B89}"/>
              </a:ext>
            </a:extLst>
          </p:cNvPr>
          <p:cNvSpPr>
            <a:spLocks noGrp="1"/>
          </p:cNvSpPr>
          <p:nvPr>
            <p:ph type="title"/>
          </p:nvPr>
        </p:nvSpPr>
        <p:spPr>
          <a:xfrm>
            <a:off x="220799" y="1294828"/>
            <a:ext cx="5441217" cy="702713"/>
          </a:xfrm>
        </p:spPr>
        <p:txBody>
          <a:bodyPr anchor="b">
            <a:normAutofit/>
          </a:bodyPr>
          <a:lstStyle/>
          <a:p>
            <a:r>
              <a:rPr lang="en-US" sz="3600" b="1">
                <a:solidFill>
                  <a:schemeClr val="bg1"/>
                </a:solidFill>
              </a:rPr>
              <a:t>Regression Conclusion</a:t>
            </a:r>
          </a:p>
        </p:txBody>
      </p:sp>
      <p:cxnSp>
        <p:nvCxnSpPr>
          <p:cNvPr id="23" name="Straight Connector 2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67FFA67-6C96-3349-FF7B-272189F6B326}"/>
              </a:ext>
            </a:extLst>
          </p:cNvPr>
          <p:cNvSpPr>
            <a:spLocks noGrp="1"/>
          </p:cNvSpPr>
          <p:nvPr>
            <p:ph idx="1"/>
          </p:nvPr>
        </p:nvSpPr>
        <p:spPr>
          <a:xfrm>
            <a:off x="2658319" y="2294927"/>
            <a:ext cx="6875362" cy="4117587"/>
          </a:xfrm>
        </p:spPr>
        <p:txBody>
          <a:bodyPr>
            <a:noAutofit/>
          </a:bodyPr>
          <a:lstStyle/>
          <a:p>
            <a:r>
              <a:rPr lang="en-US" sz="2000">
                <a:solidFill>
                  <a:schemeClr val="bg1"/>
                </a:solidFill>
              </a:rPr>
              <a:t>Regression was used to test whether estimated traffic exposure varied by socioeconomic characteristics. </a:t>
            </a:r>
          </a:p>
          <a:p>
            <a:endParaRPr lang="en-US" sz="2000">
              <a:solidFill>
                <a:schemeClr val="bg1"/>
              </a:solidFill>
            </a:endParaRPr>
          </a:p>
          <a:p>
            <a:r>
              <a:rPr lang="en-US" sz="2000">
                <a:solidFill>
                  <a:schemeClr val="bg1"/>
                </a:solidFill>
              </a:rPr>
              <a:t>Median income, population density, and percent minority population showed weak relationships with exposure. </a:t>
            </a:r>
          </a:p>
          <a:p>
            <a:endParaRPr lang="en-US" sz="2000">
              <a:solidFill>
                <a:schemeClr val="bg1"/>
              </a:solidFill>
            </a:endParaRPr>
          </a:p>
          <a:p>
            <a:r>
              <a:rPr lang="en-US" sz="2000">
                <a:solidFill>
                  <a:schemeClr val="bg1"/>
                </a:solidFill>
              </a:rPr>
              <a:t>The results do not show a strong socioeconomic pattern in exposure using this model. </a:t>
            </a:r>
          </a:p>
          <a:p>
            <a:pPr marL="0" indent="0">
              <a:buNone/>
            </a:pPr>
            <a:endParaRPr lang="en-US" sz="2000">
              <a:solidFill>
                <a:schemeClr val="bg1"/>
              </a:solidFill>
            </a:endParaRPr>
          </a:p>
          <a:p>
            <a:r>
              <a:rPr lang="en-US" sz="2000">
                <a:solidFill>
                  <a:schemeClr val="bg1"/>
                </a:solidFill>
              </a:rPr>
              <a:t>Because exposure was estimated from AADT traffic counts, the results should be interpreted as potential exposure, not direct pollution measurement. </a:t>
            </a:r>
          </a:p>
          <a:p>
            <a:pPr fontAlgn="base"/>
            <a:endParaRPr lang="en-US" sz="2000">
              <a:solidFill>
                <a:schemeClr val="bg1"/>
              </a:solidFill>
            </a:endParaRPr>
          </a:p>
        </p:txBody>
      </p:sp>
      <p:sp>
        <p:nvSpPr>
          <p:cNvPr id="25" name="Rectangle 24">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31471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Content Placeholder 24">
            <a:extLst>
              <a:ext uri="{FF2B5EF4-FFF2-40B4-BE49-F238E27FC236}">
                <a16:creationId xmlns:a16="http://schemas.microsoft.com/office/drawing/2014/main" id="{DFD95156-3765-2FED-59C5-6DB7C373D196}"/>
              </a:ext>
            </a:extLst>
          </p:cNvPr>
          <p:cNvPicPr>
            <a:picLocks noGrp="1" noChangeAspect="1"/>
          </p:cNvPicPr>
          <p:nvPr>
            <p:ph idx="1"/>
          </p:nvPr>
        </p:nvPicPr>
        <p:blipFill>
          <a:blip r:embed="rId3"/>
          <a:srcRect/>
          <a:stretch/>
        </p:blipFill>
        <p:spPr>
          <a:xfrm>
            <a:off x="67622" y="218374"/>
            <a:ext cx="8019594" cy="6421252"/>
          </a:xfrm>
          <a:prstGeom prst="rect">
            <a:avLst/>
          </a:prstGeom>
        </p:spPr>
      </p:pic>
      <p:sp>
        <p:nvSpPr>
          <p:cNvPr id="27" name="Rounded Rectangle 26">
            <a:extLst>
              <a:ext uri="{FF2B5EF4-FFF2-40B4-BE49-F238E27FC236}">
                <a16:creationId xmlns:a16="http://schemas.microsoft.com/office/drawing/2014/main" id="{618B37F6-4D0C-07DD-C542-4F52EBFA3C2A}"/>
              </a:ext>
            </a:extLst>
          </p:cNvPr>
          <p:cNvSpPr/>
          <p:nvPr/>
        </p:nvSpPr>
        <p:spPr>
          <a:xfrm>
            <a:off x="4413564" y="2630032"/>
            <a:ext cx="3109866" cy="107736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76200">
                <a:solidFill>
                  <a:schemeClr val="accent3"/>
                </a:solidFill>
              </a:ln>
            </a:endParaRPr>
          </a:p>
        </p:txBody>
      </p:sp>
      <p:sp>
        <p:nvSpPr>
          <p:cNvPr id="28" name="Rounded Rectangle 27">
            <a:extLst>
              <a:ext uri="{FF2B5EF4-FFF2-40B4-BE49-F238E27FC236}">
                <a16:creationId xmlns:a16="http://schemas.microsoft.com/office/drawing/2014/main" id="{41BB0DA3-68A4-5130-B597-6C629EC416DF}"/>
              </a:ext>
            </a:extLst>
          </p:cNvPr>
          <p:cNvSpPr/>
          <p:nvPr/>
        </p:nvSpPr>
        <p:spPr>
          <a:xfrm>
            <a:off x="2394983" y="2630032"/>
            <a:ext cx="3154441" cy="11243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DCC07CA-0D6C-F589-F499-059CEBE7CCC5}"/>
              </a:ext>
            </a:extLst>
          </p:cNvPr>
          <p:cNvSpPr txBox="1"/>
          <p:nvPr/>
        </p:nvSpPr>
        <p:spPr>
          <a:xfrm>
            <a:off x="7782078" y="2869059"/>
            <a:ext cx="3821502" cy="646331"/>
          </a:xfrm>
          <a:prstGeom prst="rect">
            <a:avLst/>
          </a:prstGeom>
          <a:noFill/>
        </p:spPr>
        <p:txBody>
          <a:bodyPr wrap="square" rtlCol="0">
            <a:spAutoFit/>
          </a:bodyPr>
          <a:lstStyle/>
          <a:p>
            <a:r>
              <a:rPr lang="en-US"/>
              <a:t>Inner city areas are generally lower income.</a:t>
            </a:r>
          </a:p>
        </p:txBody>
      </p:sp>
    </p:spTree>
    <p:extLst>
      <p:ext uri="{BB962C8B-B14F-4D97-AF65-F5344CB8AC3E}">
        <p14:creationId xmlns:p14="http://schemas.microsoft.com/office/powerpoint/2010/main" val="389437205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CB18-A6DE-F96A-DB50-4C2E46E266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44527E-F731-5807-9DB8-12255F45F6DF}"/>
              </a:ext>
            </a:extLst>
          </p:cNvPr>
          <p:cNvPicPr>
            <a:picLocks noChangeAspect="1"/>
          </p:cNvPicPr>
          <p:nvPr/>
        </p:nvPicPr>
        <p:blipFill>
          <a:blip r:embed="rId3"/>
          <a:srcRect/>
          <a:stretch/>
        </p:blipFill>
        <p:spPr>
          <a:xfrm>
            <a:off x="627596" y="1640046"/>
            <a:ext cx="5216904" cy="3260565"/>
          </a:xfrm>
          <a:prstGeom prst="rect">
            <a:avLst/>
          </a:prstGeom>
        </p:spPr>
      </p:pic>
      <p:pic>
        <p:nvPicPr>
          <p:cNvPr id="5" name="Picture 4">
            <a:extLst>
              <a:ext uri="{FF2B5EF4-FFF2-40B4-BE49-F238E27FC236}">
                <a16:creationId xmlns:a16="http://schemas.microsoft.com/office/drawing/2014/main" id="{52AF59FB-9D22-25FD-9721-4928B34ACBAC}"/>
              </a:ext>
            </a:extLst>
          </p:cNvPr>
          <p:cNvPicPr>
            <a:picLocks noChangeAspect="1"/>
          </p:cNvPicPr>
          <p:nvPr/>
        </p:nvPicPr>
        <p:blipFill>
          <a:blip r:embed="rId4"/>
          <a:srcRect/>
          <a:stretch/>
        </p:blipFill>
        <p:spPr>
          <a:xfrm>
            <a:off x="6601949" y="1798716"/>
            <a:ext cx="5297803" cy="2943224"/>
          </a:xfrm>
          <a:prstGeom prst="rect">
            <a:avLst/>
          </a:prstGeom>
        </p:spPr>
      </p:pic>
      <p:sp>
        <p:nvSpPr>
          <p:cNvPr id="2" name="TextBox 1">
            <a:extLst>
              <a:ext uri="{FF2B5EF4-FFF2-40B4-BE49-F238E27FC236}">
                <a16:creationId xmlns:a16="http://schemas.microsoft.com/office/drawing/2014/main" id="{32D03B1E-3D27-E144-6799-43AECE5FEC54}"/>
              </a:ext>
            </a:extLst>
          </p:cNvPr>
          <p:cNvSpPr txBox="1"/>
          <p:nvPr/>
        </p:nvSpPr>
        <p:spPr>
          <a:xfrm>
            <a:off x="1139829" y="5217954"/>
            <a:ext cx="4192438" cy="1200329"/>
          </a:xfrm>
          <a:prstGeom prst="rect">
            <a:avLst/>
          </a:prstGeom>
          <a:noFill/>
        </p:spPr>
        <p:txBody>
          <a:bodyPr wrap="square" rtlCol="0">
            <a:spAutoFit/>
          </a:bodyPr>
          <a:lstStyle/>
          <a:p>
            <a:r>
              <a:rPr lang="en-US"/>
              <a:t>The 3</a:t>
            </a:r>
            <a:r>
              <a:rPr lang="en-US" baseline="30000"/>
              <a:t>rd</a:t>
            </a:r>
            <a:r>
              <a:rPr lang="en-US"/>
              <a:t> and 2</a:t>
            </a:r>
            <a:r>
              <a:rPr lang="en-US" baseline="30000"/>
              <a:t>nd</a:t>
            </a:r>
            <a:r>
              <a:rPr lang="en-US"/>
              <a:t> Income Quartile note a small decrease in traffic around them, while the 1</a:t>
            </a:r>
            <a:r>
              <a:rPr lang="en-US" baseline="30000"/>
              <a:t>st</a:t>
            </a:r>
            <a:r>
              <a:rPr lang="en-US"/>
              <a:t> is the highest, with the 4</a:t>
            </a:r>
            <a:r>
              <a:rPr lang="en-US" baseline="30000"/>
              <a:t>th</a:t>
            </a:r>
            <a:r>
              <a:rPr lang="en-US"/>
              <a:t> (Richest) not far behind.</a:t>
            </a:r>
          </a:p>
        </p:txBody>
      </p:sp>
      <p:sp>
        <p:nvSpPr>
          <p:cNvPr id="4" name="TextBox 3">
            <a:extLst>
              <a:ext uri="{FF2B5EF4-FFF2-40B4-BE49-F238E27FC236}">
                <a16:creationId xmlns:a16="http://schemas.microsoft.com/office/drawing/2014/main" id="{B7178BD0-0684-5F97-8830-B394E2054BAA}"/>
              </a:ext>
            </a:extLst>
          </p:cNvPr>
          <p:cNvSpPr txBox="1"/>
          <p:nvPr/>
        </p:nvSpPr>
        <p:spPr>
          <a:xfrm>
            <a:off x="7154631" y="5217954"/>
            <a:ext cx="4192438" cy="923330"/>
          </a:xfrm>
          <a:prstGeom prst="rect">
            <a:avLst/>
          </a:prstGeom>
          <a:noFill/>
        </p:spPr>
        <p:txBody>
          <a:bodyPr wrap="square" rtlCol="0">
            <a:spAutoFit/>
          </a:bodyPr>
          <a:lstStyle/>
          <a:p>
            <a:r>
              <a:rPr lang="en-US"/>
              <a:t>White (non Hispanic) communities are of the least impacted. However, the spread is not by much.</a:t>
            </a:r>
          </a:p>
        </p:txBody>
      </p:sp>
    </p:spTree>
    <p:extLst>
      <p:ext uri="{BB962C8B-B14F-4D97-AF65-F5344CB8AC3E}">
        <p14:creationId xmlns:p14="http://schemas.microsoft.com/office/powerpoint/2010/main" val="29644384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9F0C0B-E9F6-4D84-79BF-69E29AE17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EFDC2-4784-EDED-7285-194A6E10B942}"/>
              </a:ext>
            </a:extLst>
          </p:cNvPr>
          <p:cNvSpPr>
            <a:spLocks noGrp="1"/>
          </p:cNvSpPr>
          <p:nvPr>
            <p:ph type="title"/>
          </p:nvPr>
        </p:nvSpPr>
        <p:spPr>
          <a:xfrm>
            <a:off x="826396" y="586855"/>
            <a:ext cx="4230100" cy="3387497"/>
          </a:xfrm>
        </p:spPr>
        <p:txBody>
          <a:bodyPr anchor="b">
            <a:normAutofit/>
          </a:bodyPr>
          <a:lstStyle/>
          <a:p>
            <a:pPr algn="ctr"/>
            <a:r>
              <a:rPr lang="en-US" sz="4000">
                <a:solidFill>
                  <a:srgbClr val="FFFFFF"/>
                </a:solidFill>
              </a:rPr>
              <a:t>Correlation Analysis </a:t>
            </a:r>
          </a:p>
        </p:txBody>
      </p:sp>
      <p:pic>
        <p:nvPicPr>
          <p:cNvPr id="9" name="Content Placeholder 8">
            <a:extLst>
              <a:ext uri="{FF2B5EF4-FFF2-40B4-BE49-F238E27FC236}">
                <a16:creationId xmlns:a16="http://schemas.microsoft.com/office/drawing/2014/main" id="{F9C05209-467D-A6F3-84B4-290825FEF23B}"/>
              </a:ext>
            </a:extLst>
          </p:cNvPr>
          <p:cNvPicPr>
            <a:picLocks noGrp="1" noChangeAspect="1"/>
          </p:cNvPicPr>
          <p:nvPr>
            <p:ph idx="1"/>
          </p:nvPr>
        </p:nvPicPr>
        <p:blipFill>
          <a:blip r:embed="rId3"/>
          <a:srcRect/>
          <a:stretch/>
        </p:blipFill>
        <p:spPr>
          <a:xfrm>
            <a:off x="1638593" y="595027"/>
            <a:ext cx="8914813" cy="5667945"/>
          </a:xfrm>
          <a:prstGeom prst="rect">
            <a:avLst/>
          </a:prstGeom>
        </p:spPr>
      </p:pic>
    </p:spTree>
    <p:extLst>
      <p:ext uri="{BB962C8B-B14F-4D97-AF65-F5344CB8AC3E}">
        <p14:creationId xmlns:p14="http://schemas.microsoft.com/office/powerpoint/2010/main" val="35643157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2714D2F-1FD4-6DAE-60C4-54E98C2BF211}"/>
              </a:ext>
            </a:extLst>
          </p:cNvPr>
          <p:cNvPicPr>
            <a:picLocks noGrp="1" noChangeAspect="1"/>
          </p:cNvPicPr>
          <p:nvPr>
            <p:ph idx="1"/>
          </p:nvPr>
        </p:nvPicPr>
        <p:blipFill>
          <a:blip r:embed="rId3"/>
          <a:stretch>
            <a:fillRect/>
          </a:stretch>
        </p:blipFill>
        <p:spPr>
          <a:xfrm>
            <a:off x="1343106" y="792581"/>
            <a:ext cx="9505787" cy="5272837"/>
          </a:xfrm>
          <a:prstGeom prst="rect">
            <a:avLst/>
          </a:prstGeom>
        </p:spPr>
      </p:pic>
    </p:spTree>
    <p:extLst>
      <p:ext uri="{BB962C8B-B14F-4D97-AF65-F5344CB8AC3E}">
        <p14:creationId xmlns:p14="http://schemas.microsoft.com/office/powerpoint/2010/main" val="67923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DA47C66-4C6D-9B49-8C50-B064AB5FA697}"/>
            </a:ext>
          </a:extLst>
        </p:cNvPr>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53" name="Freeform: Shape 1052">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6551733-FDAF-3B1E-0F91-3622393239CE}"/>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26000" contrast="46000"/>
                    </a14:imgEffect>
                  </a14:imgLayer>
                </a14:imgProps>
              </a:ext>
            </a:extLst>
          </a:blip>
          <a:srcRect l="3015" t="68" r="8123" b="7501"/>
          <a:stretch>
            <a:fillRect/>
          </a:stretch>
        </p:blipFill>
        <p:spPr>
          <a:xfrm>
            <a:off x="4559472" y="601133"/>
            <a:ext cx="7632528" cy="5497811"/>
          </a:xfrm>
          <a:prstGeom prst="rect">
            <a:avLst/>
          </a:prstGeom>
        </p:spPr>
      </p:pic>
      <p:pic>
        <p:nvPicPr>
          <p:cNvPr id="4" name="Content Placeholder 8">
            <a:extLst>
              <a:ext uri="{FF2B5EF4-FFF2-40B4-BE49-F238E27FC236}">
                <a16:creationId xmlns:a16="http://schemas.microsoft.com/office/drawing/2014/main" id="{71403E82-ED4C-0650-612A-0B92215E7B09}"/>
              </a:ext>
            </a:extLst>
          </p:cNvPr>
          <p:cNvPicPr>
            <a:picLocks noChangeAspect="1"/>
          </p:cNvPicPr>
          <p:nvPr/>
        </p:nvPicPr>
        <p:blipFill>
          <a:blip r:embed="rId5">
            <a:alphaModFix amt="70000"/>
          </a:blip>
          <a:stretch/>
        </p:blipFill>
        <p:spPr>
          <a:xfrm>
            <a:off x="5824974" y="916449"/>
            <a:ext cx="6367026" cy="5093621"/>
          </a:xfrm>
          <a:prstGeom prst="rect">
            <a:avLst/>
          </a:prstGeom>
        </p:spPr>
      </p:pic>
      <p:sp useBgFill="1">
        <p:nvSpPr>
          <p:cNvPr id="1055" name="Freeform: Shape 1054">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BD8F552-A9C1-C288-7423-8EBEB48BC88F}"/>
              </a:ext>
            </a:extLst>
          </p:cNvPr>
          <p:cNvSpPr>
            <a:spLocks noGrp="1"/>
          </p:cNvSpPr>
          <p:nvPr>
            <p:ph type="title"/>
          </p:nvPr>
        </p:nvSpPr>
        <p:spPr>
          <a:xfrm>
            <a:off x="438913" y="859536"/>
            <a:ext cx="4832802" cy="1170432"/>
          </a:xfrm>
        </p:spPr>
        <p:txBody>
          <a:bodyPr anchor="b">
            <a:normAutofit/>
          </a:bodyPr>
          <a:lstStyle/>
          <a:p>
            <a:r>
              <a:rPr lang="en-US" sz="3400">
                <a:solidFill>
                  <a:schemeClr val="bg1"/>
                </a:solidFill>
              </a:rPr>
              <a:t>Summary and Findings</a:t>
            </a:r>
          </a:p>
        </p:txBody>
      </p:sp>
      <p:sp>
        <p:nvSpPr>
          <p:cNvPr id="1057" name="Rectangle 1056">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59" name="Rectangle 105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C3EDCA7-5E0B-0DB3-2FD0-949A60325BE6}"/>
              </a:ext>
            </a:extLst>
          </p:cNvPr>
          <p:cNvSpPr>
            <a:spLocks noGrp="1"/>
          </p:cNvSpPr>
          <p:nvPr>
            <p:ph idx="1"/>
          </p:nvPr>
        </p:nvSpPr>
        <p:spPr>
          <a:xfrm>
            <a:off x="438912" y="2512611"/>
            <a:ext cx="4832803" cy="3664351"/>
          </a:xfrm>
        </p:spPr>
        <p:txBody>
          <a:bodyPr>
            <a:normAutofit/>
          </a:bodyPr>
          <a:lstStyle/>
          <a:p>
            <a:pPr>
              <a:buFont typeface="Wingdings" panose="05000000000000000000" pitchFamily="2" charset="2"/>
              <a:buChar char="Ø"/>
            </a:pPr>
            <a:r>
              <a:rPr lang="en-US" sz="1400" b="1">
                <a:solidFill>
                  <a:schemeClr val="bg1"/>
                </a:solidFill>
              </a:rPr>
              <a:t>Income does not tell the whole story</a:t>
            </a:r>
          </a:p>
          <a:p>
            <a:pPr lvl="1">
              <a:buFont typeface="Wingdings" panose="05000000000000000000" pitchFamily="2" charset="2"/>
              <a:buChar char="Ø"/>
            </a:pPr>
            <a:r>
              <a:rPr lang="en-US" sz="1100">
                <a:solidFill>
                  <a:schemeClr val="bg1"/>
                </a:solidFill>
              </a:rPr>
              <a:t>Higher income areas are slightly less exposed to emissions, but the relationship is weak</a:t>
            </a:r>
          </a:p>
          <a:p>
            <a:pPr>
              <a:buFont typeface="Wingdings" panose="05000000000000000000" pitchFamily="2" charset="2"/>
              <a:buChar char="Ø"/>
            </a:pPr>
            <a:r>
              <a:rPr lang="en-US" sz="1400" b="1">
                <a:solidFill>
                  <a:schemeClr val="bg1"/>
                </a:solidFill>
              </a:rPr>
              <a:t>Low income, minority communities are affected the most </a:t>
            </a:r>
          </a:p>
          <a:p>
            <a:pPr lvl="1">
              <a:buFont typeface="Wingdings" panose="05000000000000000000" pitchFamily="2" charset="2"/>
              <a:buChar char="Ø"/>
            </a:pPr>
            <a:r>
              <a:rPr lang="en-US" sz="1100">
                <a:solidFill>
                  <a:schemeClr val="bg1"/>
                </a:solidFill>
              </a:rPr>
              <a:t>Black &amp; Hispanic communities are slightly more affected overall and show negative income-exposure relationships (lower income leads to much higher exposure)</a:t>
            </a:r>
          </a:p>
          <a:p>
            <a:pPr lvl="1">
              <a:buFont typeface="Wingdings" panose="05000000000000000000" pitchFamily="2" charset="2"/>
              <a:buChar char="Ø"/>
            </a:pPr>
            <a:r>
              <a:rPr lang="en-US" sz="1100">
                <a:solidFill>
                  <a:schemeClr val="bg1"/>
                </a:solidFill>
              </a:rPr>
              <a:t>White communities a show flat income-exposure relationship</a:t>
            </a:r>
          </a:p>
          <a:p>
            <a:pPr lvl="1">
              <a:buFont typeface="Wingdings" panose="05000000000000000000" pitchFamily="2" charset="2"/>
              <a:buChar char="Ø"/>
            </a:pPr>
            <a:r>
              <a:rPr lang="en-US" sz="1100">
                <a:solidFill>
                  <a:schemeClr val="bg1"/>
                </a:solidFill>
              </a:rPr>
              <a:t>Disparity shows minority communities face compounded exposure burden by income level</a:t>
            </a:r>
          </a:p>
          <a:p>
            <a:pPr>
              <a:buFont typeface="Wingdings" panose="05000000000000000000" pitchFamily="2" charset="2"/>
              <a:buChar char="Ø"/>
            </a:pPr>
            <a:r>
              <a:rPr lang="en-US" sz="1400" b="1">
                <a:solidFill>
                  <a:schemeClr val="bg1"/>
                </a:solidFill>
              </a:rPr>
              <a:t>Population Density is the Strongest Predictor</a:t>
            </a:r>
          </a:p>
          <a:p>
            <a:pPr lvl="1">
              <a:buFont typeface="Wingdings" panose="05000000000000000000" pitchFamily="2" charset="2"/>
              <a:buChar char="Ø"/>
            </a:pPr>
            <a:r>
              <a:rPr lang="en-US" sz="1100">
                <a:solidFill>
                  <a:schemeClr val="bg1"/>
                </a:solidFill>
              </a:rPr>
              <a:t>Highways are concentrated in peripheral zones not dense urban areas</a:t>
            </a:r>
          </a:p>
          <a:p>
            <a:pPr>
              <a:buFont typeface="Wingdings" panose="05000000000000000000" pitchFamily="2" charset="2"/>
              <a:buChar char="Ø"/>
            </a:pPr>
            <a:r>
              <a:rPr lang="en-US" sz="1400" b="1" u="sng">
                <a:solidFill>
                  <a:schemeClr val="bg1"/>
                </a:solidFill>
              </a:rPr>
              <a:t>Socioeconomic variables show useful but limited explanatory power</a:t>
            </a:r>
          </a:p>
        </p:txBody>
      </p:sp>
    </p:spTree>
    <p:extLst>
      <p:ext uri="{BB962C8B-B14F-4D97-AF65-F5344CB8AC3E}">
        <p14:creationId xmlns:p14="http://schemas.microsoft.com/office/powerpoint/2010/main" val="31578596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F74075D-AEB7-A7C8-8F19-2A7C8344819E}"/>
            </a:ext>
          </a:extLst>
        </p:cNvPr>
        <p:cNvGrpSpPr/>
        <p:nvPr/>
      </p:nvGrpSpPr>
      <p:grpSpPr>
        <a:xfrm>
          <a:off x="0" y="0"/>
          <a:ext cx="0" cy="0"/>
          <a:chOff x="0" y="0"/>
          <a:chExt cx="0" cy="0"/>
        </a:xfrm>
      </p:grpSpPr>
      <p:sp useBgFill="1">
        <p:nvSpPr>
          <p:cNvPr id="1130" name="Rectangle 112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6FD7AB-978B-2446-1B56-5AE99E784FF9}"/>
              </a:ext>
            </a:extLst>
          </p:cNvPr>
          <p:cNvSpPr>
            <a:spLocks noGrp="1"/>
          </p:cNvSpPr>
          <p:nvPr>
            <p:ph type="title"/>
          </p:nvPr>
        </p:nvSpPr>
        <p:spPr>
          <a:xfrm>
            <a:off x="630936" y="640080"/>
            <a:ext cx="7232904" cy="1481328"/>
          </a:xfrm>
        </p:spPr>
        <p:txBody>
          <a:bodyPr anchor="b">
            <a:normAutofit/>
          </a:bodyPr>
          <a:lstStyle/>
          <a:p>
            <a:r>
              <a:rPr lang="en-US" sz="5000">
                <a:solidFill>
                  <a:schemeClr val="bg1"/>
                </a:solidFill>
              </a:rPr>
              <a:t>Synthesis, Conclusions, and Limitations</a:t>
            </a:r>
          </a:p>
        </p:txBody>
      </p:sp>
      <p:sp>
        <p:nvSpPr>
          <p:cNvPr id="113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FC477B-E15C-C0A3-0583-8D85586F7226}"/>
              </a:ext>
            </a:extLst>
          </p:cNvPr>
          <p:cNvSpPr>
            <a:spLocks noGrp="1"/>
          </p:cNvSpPr>
          <p:nvPr>
            <p:ph idx="1"/>
          </p:nvPr>
        </p:nvSpPr>
        <p:spPr>
          <a:xfrm>
            <a:off x="409194" y="2523744"/>
            <a:ext cx="4818888" cy="4041648"/>
          </a:xfrm>
        </p:spPr>
        <p:txBody>
          <a:bodyPr anchor="t">
            <a:normAutofit fontScale="92500" lnSpcReduction="10000"/>
          </a:bodyPr>
          <a:lstStyle/>
          <a:p>
            <a:pPr>
              <a:buFont typeface="Wingdings" panose="05000000000000000000" pitchFamily="2" charset="2"/>
              <a:buChar char="Ø"/>
            </a:pPr>
            <a:r>
              <a:rPr lang="en-US" sz="1400" b="1">
                <a:solidFill>
                  <a:schemeClr val="bg1"/>
                </a:solidFill>
              </a:rPr>
              <a:t>Geography Drives Exposure</a:t>
            </a:r>
            <a:endParaRPr lang="en-US" sz="1400">
              <a:solidFill>
                <a:schemeClr val="bg1"/>
              </a:solidFill>
            </a:endParaRPr>
          </a:p>
          <a:p>
            <a:pPr lvl="1">
              <a:buFont typeface="Wingdings" panose="05000000000000000000" pitchFamily="2" charset="2"/>
              <a:buChar char="Ø"/>
            </a:pPr>
            <a:r>
              <a:rPr lang="en-US" sz="1100">
                <a:solidFill>
                  <a:schemeClr val="bg1"/>
                </a:solidFill>
              </a:rPr>
              <a:t>Exposure determined by where highways are located in peripheral, low-density areas correlating to density being our strongest predictor</a:t>
            </a:r>
          </a:p>
          <a:p>
            <a:pPr>
              <a:buFont typeface="Wingdings" panose="05000000000000000000" pitchFamily="2" charset="2"/>
              <a:buChar char="Ø"/>
            </a:pPr>
            <a:r>
              <a:rPr lang="en-US" sz="1400" b="1">
                <a:solidFill>
                  <a:schemeClr val="bg1"/>
                </a:solidFill>
              </a:rPr>
              <a:t>Two Mechanisms of Racial Inequity</a:t>
            </a:r>
          </a:p>
          <a:p>
            <a:pPr lvl="1">
              <a:buFont typeface="Wingdings" panose="05000000000000000000" pitchFamily="2" charset="2"/>
              <a:buChar char="Ø"/>
            </a:pPr>
            <a:r>
              <a:rPr lang="en-US" sz="1100">
                <a:solidFill>
                  <a:schemeClr val="bg1"/>
                </a:solidFill>
              </a:rPr>
              <a:t>Spatial Location: Communities of color are slightly more disproportionately located in higher-exposure zones</a:t>
            </a:r>
          </a:p>
          <a:p>
            <a:pPr lvl="1">
              <a:buFont typeface="Wingdings" panose="05000000000000000000" pitchFamily="2" charset="2"/>
              <a:buChar char="Ø"/>
            </a:pPr>
            <a:r>
              <a:rPr lang="en-US" sz="1100">
                <a:solidFill>
                  <a:schemeClr val="bg1"/>
                </a:solidFill>
              </a:rPr>
              <a:t>Economic Stratification: Within communities of color, lower-income residents face additional burden; white communities show no income-exposure relationship showing how minority communities could be stuck in high emissions zones while majority white communities are start in mainly low emissions zones and have freedom to move with higher income</a:t>
            </a:r>
          </a:p>
          <a:p>
            <a:pPr>
              <a:buFont typeface="Wingdings" panose="05000000000000000000" pitchFamily="2" charset="2"/>
              <a:buChar char="Ø"/>
            </a:pPr>
            <a:r>
              <a:rPr lang="en-US" sz="1400" b="1">
                <a:solidFill>
                  <a:schemeClr val="bg1"/>
                </a:solidFill>
              </a:rPr>
              <a:t>Environmental Justice Reasoning</a:t>
            </a:r>
            <a:endParaRPr lang="en-US" sz="1400">
              <a:solidFill>
                <a:schemeClr val="bg1"/>
              </a:solidFill>
            </a:endParaRPr>
          </a:p>
          <a:p>
            <a:pPr lvl="1">
              <a:buFont typeface="Wingdings" panose="05000000000000000000" pitchFamily="2" charset="2"/>
              <a:buChar char="Ø"/>
            </a:pPr>
            <a:r>
              <a:rPr lang="en-US" sz="1100">
                <a:solidFill>
                  <a:schemeClr val="bg1"/>
                </a:solidFill>
              </a:rPr>
              <a:t>DFW exhibits race-stratified exposure rooted in geography and history</a:t>
            </a:r>
          </a:p>
          <a:p>
            <a:pPr lvl="1">
              <a:buFont typeface="Wingdings" panose="05000000000000000000" pitchFamily="2" charset="2"/>
              <a:buChar char="Ø"/>
            </a:pPr>
            <a:r>
              <a:rPr lang="en-US" sz="1100">
                <a:solidFill>
                  <a:schemeClr val="bg1"/>
                </a:solidFill>
              </a:rPr>
              <a:t>Exposure driven by </a:t>
            </a:r>
            <a:r>
              <a:rPr lang="en-US" sz="1100" i="1">
                <a:solidFill>
                  <a:schemeClr val="bg1"/>
                </a:solidFill>
              </a:rPr>
              <a:t>where highways are built</a:t>
            </a:r>
            <a:r>
              <a:rPr lang="en-US" sz="1100">
                <a:solidFill>
                  <a:schemeClr val="bg1"/>
                </a:solidFill>
              </a:rPr>
              <a:t>, not simply </a:t>
            </a:r>
            <a:r>
              <a:rPr lang="en-US" sz="1100" i="1">
                <a:solidFill>
                  <a:schemeClr val="bg1"/>
                </a:solidFill>
              </a:rPr>
              <a:t>who is poor</a:t>
            </a:r>
            <a:endParaRPr lang="en-US" sz="1100">
              <a:solidFill>
                <a:schemeClr val="bg1"/>
              </a:solidFill>
            </a:endParaRPr>
          </a:p>
          <a:p>
            <a:pPr>
              <a:buFont typeface="Wingdings" panose="05000000000000000000" pitchFamily="2" charset="2"/>
              <a:buChar char="Ø"/>
            </a:pPr>
            <a:r>
              <a:rPr lang="en-US" sz="1500" b="1">
                <a:solidFill>
                  <a:schemeClr val="bg1"/>
                </a:solidFill>
              </a:rPr>
              <a:t>Why Geography Drives Exposure: Highway Planning Decisions</a:t>
            </a:r>
          </a:p>
          <a:p>
            <a:pPr lvl="1">
              <a:buFont typeface="Wingdings" panose="05000000000000000000" pitchFamily="2" charset="2"/>
              <a:buChar char="Ø"/>
            </a:pPr>
            <a:r>
              <a:rPr lang="en-US" sz="1200">
                <a:solidFill>
                  <a:schemeClr val="bg1"/>
                </a:solidFill>
              </a:rPr>
              <a:t>Interstate Highway System (1956–1980s) routed freeways through areas based on engineering efficiency and cost, not community benefit</a:t>
            </a:r>
          </a:p>
          <a:p>
            <a:pPr lvl="1">
              <a:buFont typeface="Wingdings" panose="05000000000000000000" pitchFamily="2" charset="2"/>
              <a:buChar char="Ø"/>
            </a:pPr>
            <a:r>
              <a:rPr lang="en-US" sz="1200">
                <a:solidFill>
                  <a:schemeClr val="bg1"/>
                </a:solidFill>
              </a:rPr>
              <a:t>DFW's peripheral high-exposure zones correspond to freeways built decades ago and our high traffic hexagon per census tract map shows darkest red</a:t>
            </a:r>
          </a:p>
        </p:txBody>
      </p:sp>
      <p:sp>
        <p:nvSpPr>
          <p:cNvPr id="4" name="Content Placeholder 2">
            <a:extLst>
              <a:ext uri="{FF2B5EF4-FFF2-40B4-BE49-F238E27FC236}">
                <a16:creationId xmlns:a16="http://schemas.microsoft.com/office/drawing/2014/main" id="{54777032-D811-E6C0-A298-90A95F464DFC}"/>
              </a:ext>
            </a:extLst>
          </p:cNvPr>
          <p:cNvSpPr txBox="1">
            <a:spLocks/>
          </p:cNvSpPr>
          <p:nvPr/>
        </p:nvSpPr>
        <p:spPr>
          <a:xfrm>
            <a:off x="5346954" y="2523744"/>
            <a:ext cx="5271516" cy="4279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400" b="1">
                <a:solidFill>
                  <a:schemeClr val="bg1"/>
                </a:solidFill>
              </a:rPr>
              <a:t>Why Income-Stratification Differs by Race</a:t>
            </a:r>
            <a:endParaRPr lang="en-US" sz="1400">
              <a:solidFill>
                <a:schemeClr val="bg1"/>
              </a:solidFill>
            </a:endParaRPr>
          </a:p>
          <a:p>
            <a:pPr lvl="1">
              <a:buFont typeface="Wingdings" panose="05000000000000000000" pitchFamily="2" charset="2"/>
              <a:buChar char="Ø"/>
            </a:pPr>
            <a:r>
              <a:rPr lang="en-US" sz="1100">
                <a:solidFill>
                  <a:schemeClr val="bg1"/>
                </a:solidFill>
              </a:rPr>
              <a:t>Historical redlining and discriminatory zoning may have concentrated communities of color in or near freeway corridors, while protecting white neighborhoods from industrial/highway adjacency</a:t>
            </a:r>
          </a:p>
          <a:p>
            <a:pPr lvl="1">
              <a:buFont typeface="Wingdings" panose="05000000000000000000" pitchFamily="2" charset="2"/>
              <a:buChar char="Ø"/>
            </a:pPr>
            <a:r>
              <a:rPr lang="en-US" sz="1100">
                <a:solidFill>
                  <a:schemeClr val="bg1"/>
                </a:solidFill>
              </a:rPr>
              <a:t>Today, wealth provides </a:t>
            </a:r>
            <a:r>
              <a:rPr lang="en-US" sz="1100" i="1">
                <a:solidFill>
                  <a:schemeClr val="bg1"/>
                </a:solidFill>
              </a:rPr>
              <a:t>some</a:t>
            </a:r>
            <a:r>
              <a:rPr lang="en-US" sz="1100">
                <a:solidFill>
                  <a:schemeClr val="bg1"/>
                </a:solidFill>
              </a:rPr>
              <a:t> escape from exposure for all residents, but less so for communities of color, suggesting historical placement created persistent geographic constraints</a:t>
            </a:r>
          </a:p>
          <a:p>
            <a:pPr lvl="1">
              <a:buFont typeface="Wingdings" panose="05000000000000000000" pitchFamily="2" charset="2"/>
              <a:buChar char="Ø"/>
            </a:pPr>
            <a:r>
              <a:rPr lang="en-US" sz="1100">
                <a:solidFill>
                  <a:schemeClr val="bg1"/>
                </a:solidFill>
              </a:rPr>
              <a:t>White communities show flat income-exposure relationships, indicating they were historically sited away from highways regardless of current income level</a:t>
            </a:r>
          </a:p>
          <a:p>
            <a:pPr>
              <a:buFont typeface="Wingdings" panose="05000000000000000000" pitchFamily="2" charset="2"/>
              <a:buChar char="Ø"/>
            </a:pPr>
            <a:r>
              <a:rPr lang="en-US" sz="1400" b="1">
                <a:solidFill>
                  <a:schemeClr val="bg1"/>
                </a:solidFill>
              </a:rPr>
              <a:t>Critical Limitations</a:t>
            </a:r>
            <a:endParaRPr lang="en-US" sz="1400">
              <a:solidFill>
                <a:schemeClr val="bg1"/>
              </a:solidFill>
            </a:endParaRPr>
          </a:p>
          <a:p>
            <a:pPr lvl="1">
              <a:buFont typeface="Wingdings" panose="05000000000000000000" pitchFamily="2" charset="2"/>
              <a:buChar char="Ø"/>
            </a:pPr>
            <a:r>
              <a:rPr lang="en-US" sz="1100">
                <a:solidFill>
                  <a:schemeClr val="bg1"/>
                </a:solidFill>
              </a:rPr>
              <a:t>We cannot prove historical causation with 2022 data alone; we need redlining maps, highway routing records, and zoning histories</a:t>
            </a:r>
          </a:p>
          <a:p>
            <a:pPr lvl="1">
              <a:buFont typeface="Wingdings" panose="05000000000000000000" pitchFamily="2" charset="2"/>
              <a:buChar char="Ø"/>
            </a:pPr>
            <a:r>
              <a:rPr lang="en-US" sz="1100">
                <a:solidFill>
                  <a:schemeClr val="bg1"/>
                </a:solidFill>
              </a:rPr>
              <a:t>Our spatial analysis is at census-tract level, so we don't know exactly </a:t>
            </a:r>
            <a:r>
              <a:rPr lang="en-US" sz="1100" i="1">
                <a:solidFill>
                  <a:schemeClr val="bg1"/>
                </a:solidFill>
              </a:rPr>
              <a:t>where</a:t>
            </a:r>
            <a:r>
              <a:rPr lang="en-US" sz="1100">
                <a:solidFill>
                  <a:schemeClr val="bg1"/>
                </a:solidFill>
              </a:rPr>
              <a:t> within neighborhoods communities of color live relative to high-exposure zones</a:t>
            </a:r>
          </a:p>
          <a:p>
            <a:pPr lvl="1">
              <a:buFont typeface="Wingdings" panose="05000000000000000000" pitchFamily="2" charset="2"/>
              <a:buChar char="Ø"/>
            </a:pPr>
            <a:r>
              <a:rPr lang="en-US" sz="1100">
                <a:solidFill>
                  <a:schemeClr val="bg1"/>
                </a:solidFill>
              </a:rPr>
              <a:t>AADT is a traffic proxy, not actual air pollution; we need EPA monitors and health outcome data (asthma, respiratory disease) to validate exposure → health pathway</a:t>
            </a:r>
          </a:p>
        </p:txBody>
      </p:sp>
    </p:spTree>
    <p:extLst>
      <p:ext uri="{BB962C8B-B14F-4D97-AF65-F5344CB8AC3E}">
        <p14:creationId xmlns:p14="http://schemas.microsoft.com/office/powerpoint/2010/main" val="19727336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474CB47-5711-F349-D93B-B47C1491CAC3}"/>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Citations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4A378D4-1B46-11CC-4445-F72729018C76}"/>
              </a:ext>
            </a:extLst>
          </p:cNvPr>
          <p:cNvSpPr>
            <a:spLocks noGrp="1"/>
          </p:cNvSpPr>
          <p:nvPr>
            <p:ph idx="1"/>
          </p:nvPr>
        </p:nvSpPr>
        <p:spPr>
          <a:xfrm>
            <a:off x="1392667" y="2398957"/>
            <a:ext cx="9406666" cy="3526144"/>
          </a:xfrm>
        </p:spPr>
        <p:txBody>
          <a:bodyPr>
            <a:normAutofit fontScale="70000" lnSpcReduction="20000"/>
          </a:bodyPr>
          <a:lstStyle/>
          <a:p>
            <a:r>
              <a:rPr lang="en-US" i="1">
                <a:solidFill>
                  <a:schemeClr val="bg1"/>
                </a:solidFill>
              </a:rPr>
              <a:t>Load US Census Boundary and Attribute Data as </a:t>
            </a:r>
            <a:r>
              <a:rPr lang="en-US" i="1" err="1">
                <a:solidFill>
                  <a:schemeClr val="bg1"/>
                </a:solidFill>
              </a:rPr>
              <a:t>tidyverse</a:t>
            </a:r>
            <a:r>
              <a:rPr lang="en-US" i="1">
                <a:solidFill>
                  <a:schemeClr val="bg1"/>
                </a:solidFill>
              </a:rPr>
              <a:t> and sf-Ready Data Frames</a:t>
            </a:r>
            <a:r>
              <a:rPr lang="en-US">
                <a:solidFill>
                  <a:schemeClr val="bg1"/>
                </a:solidFill>
              </a:rPr>
              <a:t>. (n.d.). Walker-</a:t>
            </a:r>
            <a:r>
              <a:rPr lang="en-US" err="1">
                <a:solidFill>
                  <a:schemeClr val="bg1"/>
                </a:solidFill>
              </a:rPr>
              <a:t>Data.com</a:t>
            </a:r>
            <a:r>
              <a:rPr lang="en-US">
                <a:solidFill>
                  <a:schemeClr val="bg1"/>
                </a:solidFill>
              </a:rPr>
              <a:t>. </a:t>
            </a:r>
            <a:r>
              <a:rPr lang="en-US">
                <a:solidFill>
                  <a:schemeClr val="bg1"/>
                </a:solidFill>
                <a:hlinkClick r:id="rId2"/>
              </a:rPr>
              <a:t>https://walker-data.com/tidycensus/</a:t>
            </a:r>
            <a:endParaRPr lang="en-US">
              <a:solidFill>
                <a:schemeClr val="bg1"/>
              </a:solidFill>
            </a:endParaRPr>
          </a:p>
          <a:p>
            <a:r>
              <a:rPr lang="en-US" i="1">
                <a:solidFill>
                  <a:schemeClr val="bg1"/>
                </a:solidFill>
              </a:rPr>
              <a:t>Traffic count maps</a:t>
            </a:r>
            <a:r>
              <a:rPr lang="en-US">
                <a:solidFill>
                  <a:schemeClr val="bg1"/>
                </a:solidFill>
              </a:rPr>
              <a:t>. (n.d.). </a:t>
            </a:r>
            <a:r>
              <a:rPr lang="en-US" err="1">
                <a:solidFill>
                  <a:schemeClr val="bg1"/>
                </a:solidFill>
              </a:rPr>
              <a:t>Www.txdot.gov</a:t>
            </a:r>
            <a:r>
              <a:rPr lang="en-US">
                <a:solidFill>
                  <a:schemeClr val="bg1"/>
                </a:solidFill>
              </a:rPr>
              <a:t>. </a:t>
            </a:r>
            <a:r>
              <a:rPr lang="en-US">
                <a:solidFill>
                  <a:schemeClr val="bg1"/>
                </a:solidFill>
                <a:hlinkClick r:id="rId3"/>
              </a:rPr>
              <a:t>https://www.txdot.gov/data-maps/traffic-count-maps.html</a:t>
            </a:r>
            <a:endParaRPr lang="en-US"/>
          </a:p>
          <a:p>
            <a:r>
              <a:rPr lang="en-US" b="1">
                <a:solidFill>
                  <a:schemeClr val="bg1"/>
                </a:solidFill>
              </a:rPr>
              <a:t>OpenStreetMap Road Network Data</a:t>
            </a:r>
            <a:r>
              <a:rPr lang="en-US">
                <a:solidFill>
                  <a:schemeClr val="bg1"/>
                </a:solidFill>
              </a:rPr>
              <a:t> OpenStreetMap Foundation. (2024). OpenStreetMap. Retrieved from</a:t>
            </a:r>
            <a:r>
              <a:rPr lang="en-US"/>
              <a:t> </a:t>
            </a:r>
            <a:r>
              <a:rPr lang="en-US">
                <a:hlinkClick r:id="rId4"/>
              </a:rPr>
              <a:t>https://www.openstreetmap.org/</a:t>
            </a:r>
            <a:endParaRPr lang="en-US"/>
          </a:p>
          <a:p>
            <a:r>
              <a:rPr lang="en-US" b="1">
                <a:solidFill>
                  <a:schemeClr val="bg1"/>
                </a:solidFill>
              </a:rPr>
              <a:t>TxDOT AADT Data</a:t>
            </a:r>
            <a:r>
              <a:rPr lang="en-US">
                <a:solidFill>
                  <a:schemeClr val="bg1"/>
                </a:solidFill>
              </a:rPr>
              <a:t> Texas Department of Transportation (TxDOT). (2024). Annual Average Daily Traffic (AADT) - Historical Data. Traffic Operations Division. Retrieved from </a:t>
            </a:r>
            <a:r>
              <a:rPr lang="en-US">
                <a:hlinkClick r:id="rId5"/>
              </a:rPr>
              <a:t>https://www.txdot.gov/business/information-requests/traffic-counts.html</a:t>
            </a:r>
            <a:endParaRPr lang="en-US">
              <a:solidFill>
                <a:schemeClr val="bg1"/>
              </a:solidFill>
            </a:endParaRPr>
          </a:p>
          <a:p>
            <a:r>
              <a:rPr lang="en-US">
                <a:solidFill>
                  <a:schemeClr val="bg1"/>
                </a:solidFill>
              </a:rPr>
              <a:t>Samsel, H. (2023) </a:t>
            </a:r>
            <a:r>
              <a:rPr lang="en-US" i="1">
                <a:solidFill>
                  <a:schemeClr val="bg1"/>
                </a:solidFill>
              </a:rPr>
              <a:t>Does Dallas Fort Worth rank third in the world for Greenhouse Gas Emissions from Cars? </a:t>
            </a:r>
            <a:r>
              <a:rPr lang="en-US">
                <a:solidFill>
                  <a:schemeClr val="bg1"/>
                </a:solidFill>
              </a:rPr>
              <a:t>Fort Worth Report. </a:t>
            </a:r>
            <a:r>
              <a:rPr lang="en-US">
                <a:solidFill>
                  <a:schemeClr val="bg1"/>
                </a:solidFill>
                <a:hlinkClick r:id="rId6"/>
              </a:rPr>
              <a:t>https://fortworthreport.org/2023/10/30/does-dallas-fort-worth-rank-third-in-the-world-for-greenhouse-gas-emissions-from-cars/</a:t>
            </a:r>
            <a:endParaRPr lang="en-US">
              <a:solidFill>
                <a:schemeClr val="bg1"/>
              </a:solidFill>
            </a:endParaRPr>
          </a:p>
          <a:p>
            <a:endParaRPr lang="en-US">
              <a:solidFill>
                <a:schemeClr val="bg1"/>
              </a:solidFill>
            </a:endParaRPr>
          </a:p>
          <a:p>
            <a:pPr marL="0" indent="0">
              <a:buNone/>
            </a:pPr>
            <a:endParaRPr lang="en-US" sz="200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F6775F92-86A2-4638-1D61-34BACECCEAB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rgbClr val="2C3E50"/>
                </a:solidFill>
                <a:effectLst/>
                <a:latin typeface="Calibri" panose="020F0502020204030204" pitchFamily="34" charset="0"/>
              </a:rPr>
              <a:t>Samsel, H. (2023, October 30). </a:t>
            </a:r>
            <a:r>
              <a:rPr kumimoji="0" lang="en-US" altLang="en-US" sz="1300" b="0" i="1" u="none" strike="noStrike" cap="none" normalizeH="0" baseline="0">
                <a:ln>
                  <a:noFill/>
                </a:ln>
                <a:solidFill>
                  <a:srgbClr val="2C3E50"/>
                </a:solidFill>
                <a:effectLst/>
                <a:latin typeface="Calibri" panose="020F0502020204030204" pitchFamily="34" charset="0"/>
              </a:rPr>
              <a:t>Does Dallas-Fort Worth rank third in the world for greenhouse gas emissions from cars?</a:t>
            </a:r>
            <a:r>
              <a:rPr kumimoji="0" lang="en-US" altLang="en-US" sz="1300" b="0" i="0" u="none" strike="noStrike" cap="none" normalizeH="0" baseline="0">
                <a:ln>
                  <a:noFill/>
                </a:ln>
                <a:solidFill>
                  <a:srgbClr val="2C3E50"/>
                </a:solidFill>
                <a:effectLst/>
                <a:latin typeface="Calibri" panose="020F0502020204030204" pitchFamily="34" charset="0"/>
              </a:rPr>
              <a:t> Fort Worth Report. https://fortworthreport.org/2023/10/30/does-dallas-fort-worth-rank-third-in-the-world-for-greenhouse-gas-emissions-from-cars/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505301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9333c23-cac7-42f4-9989-5cee3d4a79c0}" enabled="0" method="" siteId="{e9333c23-cac7-42f4-9989-5cee3d4a79c0}" removed="1"/>
</clbl:labelList>
</file>

<file path=docProps/app.xml><?xml version="1.0" encoding="utf-8"?>
<Properties xmlns="http://schemas.openxmlformats.org/officeDocument/2006/extended-properties" xmlns:vt="http://schemas.openxmlformats.org/officeDocument/2006/docPropsVTypes">
  <Template>Office Theme</Template>
  <TotalTime>291</TotalTime>
  <Words>1276</Words>
  <Application>Microsoft Office PowerPoint</Application>
  <PresentationFormat>Widescreen</PresentationFormat>
  <Paragraphs>138</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Wingdings</vt:lpstr>
      <vt:lpstr>Office Theme</vt:lpstr>
      <vt:lpstr>Mapping Vehicle Emission Exposure and Infrastructure Inequity Across Dallas-Fort Worth</vt:lpstr>
      <vt:lpstr>PowerPoint Presentation</vt:lpstr>
      <vt:lpstr>Regional Issues with Emissions</vt:lpstr>
      <vt:lpstr>Research Questions </vt:lpstr>
      <vt:lpstr>DFW Road Network &amp; Traffic Volume Visualized</vt:lpstr>
      <vt:lpstr>Demographics of the DFW Area</vt:lpstr>
      <vt:lpstr>Mapping Census Data</vt:lpstr>
      <vt:lpstr>Correlating Census Data with Traffic Volumes </vt:lpstr>
      <vt:lpstr>Regression Analysis</vt:lpstr>
      <vt:lpstr>PowerPoint Presentation</vt:lpstr>
      <vt:lpstr>Regression Conclusion</vt:lpstr>
      <vt:lpstr>PowerPoint Presentation</vt:lpstr>
      <vt:lpstr>PowerPoint Presentation</vt:lpstr>
      <vt:lpstr>Correlation Analysis </vt:lpstr>
      <vt:lpstr>PowerPoint Presentation</vt:lpstr>
      <vt:lpstr>Summary and Findings</vt:lpstr>
      <vt:lpstr>Synthesis, Conclusions, and Limitations</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Jones, Isaiah - jones3ic</dc:creator>
  <cp:lastModifiedBy>Anna Jensen</cp:lastModifiedBy>
  <cp:revision>2</cp:revision>
  <dcterms:created xsi:type="dcterms:W3CDTF">2026-04-30T20:01:54Z</dcterms:created>
  <dcterms:modified xsi:type="dcterms:W3CDTF">2026-09-14T21:16:14Z</dcterms:modified>
</cp:coreProperties>
</file>